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EEF7A6-C51F-4765-95DC-4421B0C34886}">
  <a:tblStyle styleId="{E7EEF7A6-C51F-4765-95DC-4421B0C348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54" autoAdjust="0"/>
  </p:normalViewPr>
  <p:slideViewPr>
    <p:cSldViewPr snapToGrid="0">
      <p:cViewPr varScale="1">
        <p:scale>
          <a:sx n="63" d="100"/>
          <a:sy n="63" d="100"/>
        </p:scale>
        <p:origin x="143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mengerjakan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proyek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final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merampungkan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tiga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portofolio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Wallet Service 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di mana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belajar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merancang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arsitektur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finansial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digital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keamanan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'idempotency'.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File Storage 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mematangkan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manajemen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file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deployment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Docker dan GitHub Actions.</a:t>
            </a: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Puncaknya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mengembangkan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CareLink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peringatan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darurat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sakit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berskala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Full-Stack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mengintegrasikan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Message Broker (RabbitMQ) dan In-Memory Cache (Redis).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Bermodal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jam terbang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arsitektur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tingkat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lanjut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ketiga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proyek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unggulan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memiliki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fondasi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sangat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matang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mengeksekusi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Final Project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endParaRPr lang="en-ID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Final Project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MediBook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Manajemen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Pendaftaran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Rumah Sakit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RESTful. Saya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berangkat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klasik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selalu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sakit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Pasien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antre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berjam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-jam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sejak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subuh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kuota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dokter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kebobolan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'request'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bersamaan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dan server yang down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pasien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-lag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tombol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daftar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berkali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-kali.</a:t>
            </a:r>
            <a:endParaRPr dirty="0"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Final Project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MediBook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Manajemen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Pendaftaran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Rumah Sakit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RESTful. Saya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berangkat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klasik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selalu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sakit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Pasien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antre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berjam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-jam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sejak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subuh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kuota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dokter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kebobolan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'request'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bersamaan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dan server yang down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pasien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-lag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tombol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daftar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berkali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-kali.</a:t>
            </a: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menyelesaikannya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MediBook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hadir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solusi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arsitektur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Enterprise: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validasi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kuota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anti-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bentrok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proteksi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spam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klik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In-Memory Cache,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pembersih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antrean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pasien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membayar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15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menit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kepatuhan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pencatatan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rekam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log audit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32F340C9-D112-9D81-02B1-81E16FDD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>
            <a:extLst>
              <a:ext uri="{FF2B5EF4-FFF2-40B4-BE49-F238E27FC236}">
                <a16:creationId xmlns:a16="http://schemas.microsoft.com/office/drawing/2014/main" id="{BA7200D5-C70A-CA9F-126B-55BD1236D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:notes">
            <a:extLst>
              <a:ext uri="{FF2B5EF4-FFF2-40B4-BE49-F238E27FC236}">
                <a16:creationId xmlns:a16="http://schemas.microsoft.com/office/drawing/2014/main" id="{8CE61D51-8292-5CA4-78FF-1D808E65D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1173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10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1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13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1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9250" y="3581570"/>
            <a:ext cx="4286250" cy="167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81570"/>
            <a:ext cx="4286250" cy="167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6090642"/>
            <a:ext cx="12172950" cy="757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296350" y="1325745"/>
            <a:ext cx="814560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Reesky</a:t>
            </a:r>
            <a:r>
              <a:rPr lang="en-US" sz="39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Riko Adhadina, </a:t>
            </a:r>
            <a:r>
              <a:rPr lang="en-US" sz="39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S.Kom</a:t>
            </a:r>
            <a:r>
              <a:rPr lang="en-US" sz="39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296350" y="2131667"/>
            <a:ext cx="7739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 Developer Portfolio &amp; Project Review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171700" y="3819695"/>
            <a:ext cx="367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Pendidikan &amp; Pelatihan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57375" y="4139676"/>
            <a:ext cx="38100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S1 Teknik Informatika (Informatics)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Universitas Surabaya (UBAYA) — Lulus 2015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57375" y="4615926"/>
            <a:ext cx="38100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diBimbing Backend Development Bootcamp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Batch 6 — Desember 2025 s.d Juli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810375" y="3819695"/>
            <a:ext cx="370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Kontak Info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24625" y="4139676"/>
            <a:ext cx="381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Probolinggo, Indonesia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524625" y="4396851"/>
            <a:ext cx="381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reesky.it@gmail.com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524625" y="4654026"/>
            <a:ext cx="381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+62 822 3243 3695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7375" y="383681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383681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4177776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443495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4625" y="469212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title="Screenshot 2026-02-13 2059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8900" y="797510"/>
            <a:ext cx="27813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080045"/>
            <a:ext cx="5324475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080045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" y="6115050"/>
            <a:ext cx="13811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19150" y="1318170"/>
            <a:ext cx="509063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Ringkasan Karir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19150" y="1638151"/>
            <a:ext cx="48482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 Developer dengan transisi karir yang didukung oleh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9+ tahun pengalaman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 bidang implementasi sistem IT dan penyiapan teknologi operasional rumah sakit.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81025" y="2666851"/>
            <a:ext cx="559069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Keahlian Lapangan &amp; Infrastruktur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81025" y="3930699"/>
            <a:ext cx="559069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Fokus Stack Backend Baru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81025" y="4208710"/>
            <a:ext cx="5324475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Java, Spring Boot, REST API, Spring Security (JWT), Desain Database Relasional, Automated Testing, Containerization (Docker).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6025" y="1089570"/>
            <a:ext cx="530542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134674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2685901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847725" y="2944862"/>
            <a:ext cx="50577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Setup server lokal / VPS &amp; Perencanaan Disaster Recovery Backup.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47725" y="3273474"/>
            <a:ext cx="50577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Integrasi perangkat IoT medis &amp; Koordinasi sistem terintegrasi vendor.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47725" y="3602087"/>
            <a:ext cx="50577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Kesiapan operasional sistem medis kritis 24/7.</a:t>
            </a:r>
            <a:endParaRPr/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1025" y="3949749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KUALIFIKASI PROFESIONAL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1025" y="2963912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1025" y="3292524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1025" y="3621137"/>
            <a:ext cx="1714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080045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080045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1080045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4175670"/>
            <a:ext cx="304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0" y="4175670"/>
            <a:ext cx="304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4850" y="4175670"/>
            <a:ext cx="304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819150" y="1822995"/>
            <a:ext cx="3200400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CareLink — Hospital Alert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19150" y="2142976"/>
            <a:ext cx="3048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Full-stack Nurse Call dengan eskalasi alarm otomatis (5 menit) dan timeline audit logs.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19150" y="2628751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Tech:</a:t>
            </a:r>
            <a:r>
              <a:rPr lang="en-US" sz="9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Java 17, Spring Boot 3.2.5, PostgreSQL, Redis Caching, RabbitMQ, JWT, React 18</a:t>
            </a:r>
            <a:endParaRPr/>
          </a:p>
        </p:txBody>
      </p:sp>
      <p:pic>
        <p:nvPicPr>
          <p:cNvPr id="149" name="Google Shape;14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431854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4572000" y="1822995"/>
            <a:ext cx="3200400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 Storage &amp; Management API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4572000" y="2142976"/>
            <a:ext cx="3048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 penyimpanan file terenkripsi UUID dengan CI/CD otomatis via GitHub Actions ke VPS.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572000" y="2628751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Tech:</a:t>
            </a:r>
            <a:r>
              <a:rPr lang="en-US" sz="9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Java 21, Spring Boot, Spring Security, MySQL, Docker, GitHub Actions CI/CD</a:t>
            </a:r>
            <a:endParaRPr/>
          </a:p>
        </p:txBody>
      </p:sp>
      <p:pic>
        <p:nvPicPr>
          <p:cNvPr id="153" name="Google Shape;15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0" y="431854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8324850" y="1822995"/>
            <a:ext cx="3200400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Wallet Service API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324850" y="2142976"/>
            <a:ext cx="304800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Backend dompet digital dengan transaksi aman, proteksi klik ganda (Idempotency), dan ekspor Excel.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24850" y="2814488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Tech:</a:t>
            </a:r>
            <a:r>
              <a:rPr lang="en-US" sz="9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Java 21, Spring Boot, Spring Security, PostgreSQL, JPA, Apache POI</a:t>
            </a:r>
            <a:endParaRPr/>
          </a:p>
        </p:txBody>
      </p:sp>
      <p:pic>
        <p:nvPicPr>
          <p:cNvPr id="157" name="Google Shape;157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24850" y="431854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9150" y="137532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72000" y="137532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24850" y="137532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PORTOFOLIO PROYEK DIBIMBING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45866"/>
            <a:ext cx="1647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4100" y="2645866"/>
            <a:ext cx="1647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67175" y="2645866"/>
            <a:ext cx="16478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9525"/>
            <a:ext cx="6086475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723900" y="581025"/>
            <a:ext cx="524065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PROYEK UTAMA: MEDIBOOK API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81025" y="581025"/>
            <a:ext cx="47625" cy="73134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581025" y="1455241"/>
            <a:ext cx="51339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API terintegrasi untuk manajemen pelayanan dan pendaftaran (booking) pasien rawat jalan secara mandiri di rumah sakit. Memproses pendaftaran poliklinik spesialis maupun penunjang non-dokter secara langsung (cek lab &amp; rontgen radiologi).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581025" y="2398216"/>
            <a:ext cx="539067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</a:t>
            </a:r>
            <a:r>
              <a:rPr lang="en-US" sz="1125" b="1" i="0" u="none" strike="noStrike" cap="none" dirty="0" err="1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endParaRPr dirty="0"/>
          </a:p>
        </p:txBody>
      </p:sp>
      <p:sp>
        <p:nvSpPr>
          <p:cNvPr id="180" name="Google Shape;180;p16"/>
          <p:cNvSpPr txBox="1"/>
          <p:nvPr/>
        </p:nvSpPr>
        <p:spPr>
          <a:xfrm>
            <a:off x="581025" y="3122116"/>
            <a:ext cx="539067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Masalah</a:t>
            </a:r>
            <a:r>
              <a:rPr lang="en-US" sz="1125" b="1" i="0" u="none" strike="noStrike" cap="none" dirty="0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Utama Yang </a:t>
            </a:r>
            <a:r>
              <a:rPr lang="en-US" sz="1125" b="1" i="0" u="none" strike="noStrike" cap="none" dirty="0" err="1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Diselesaikan</a:t>
            </a:r>
            <a:endParaRPr dirty="0"/>
          </a:p>
        </p:txBody>
      </p:sp>
      <p:sp>
        <p:nvSpPr>
          <p:cNvPr id="181" name="Google Shape;181;p16"/>
          <p:cNvSpPr txBox="1"/>
          <p:nvPr/>
        </p:nvSpPr>
        <p:spPr>
          <a:xfrm>
            <a:off x="581025" y="3350716"/>
            <a:ext cx="5133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Mengurangi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antrean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fisik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pendaftaran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rumah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sakit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mencegah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overbooking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kuota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dokter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memitigasi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manipulasi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kebocoran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berkas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resep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kertas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fisik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82" name="Google Shape;18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6161" y="241726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314116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83373" y="2760166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840736" y="2760166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74286" y="2760166"/>
            <a:ext cx="14287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080045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080045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1104900" y="1346745"/>
            <a:ext cx="479059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Masalah Riil Rumah Sakit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810375" y="1346745"/>
            <a:ext cx="479059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Solusi Terintegrasi MediBook</a:t>
            </a:r>
            <a:endParaRPr/>
          </a:p>
        </p:txBody>
      </p:sp>
      <p:pic>
        <p:nvPicPr>
          <p:cNvPr id="200" name="Google Shape;20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136579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1085850" y="1765845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Antrean Fisik Berjam-jam:</a:t>
            </a:r>
            <a:r>
              <a:rPr lang="en-US" sz="1125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Pasien wajib datang dini hari hanya untuk sekadar mengambil nomor antrean loket pendaftaran rawat jalan.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085850" y="2561183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Kondisi Overbooking Kuota:</a:t>
            </a:r>
            <a:r>
              <a:rPr lang="en-US" sz="1125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Kuota dokter terlampaui dikarenakan sistem menerima banyak request pemesanan bersamaan di detik yang sama.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085850" y="3356520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Penyalahgunaan API (Spam Booking):</a:t>
            </a:r>
            <a:r>
              <a:rPr lang="en-US" sz="1125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Pasien/bot menembak endpoint booking berulang kali untuk mengamankan slot dokter langka secara curang.</a:t>
            </a:r>
            <a:endParaRPr/>
          </a:p>
        </p:txBody>
      </p:sp>
      <p:pic>
        <p:nvPicPr>
          <p:cNvPr id="204" name="Google Shape;20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136579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6791325" y="1765845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Sistem Booking Online Mandiri:</a:t>
            </a:r>
            <a:r>
              <a:rPr lang="en-US" sz="1125" b="0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Pasien dapat mendaftar dari rumah dan otomatis mendapatkan nomor antrean kunjungan secara real-time.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791325" y="2561183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Database Pessimistic Locking:</a:t>
            </a:r>
            <a:r>
              <a:rPr lang="en-US" sz="1125" b="0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Mengunci baris ketersediaan kuota dokter (serialized transaksi) agar sisa kuota aman dari race condition.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6791325" y="3356520"/>
            <a:ext cx="45815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Redis Idempotency &amp; Unique Index:</a:t>
            </a:r>
            <a:r>
              <a:rPr lang="en-US" sz="1125" b="0" i="0" u="none" strike="noStrike" cap="non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Proteksi duplikasi input pendaftaran pasien di hari yang sama menggunakan key Redis dan unique database constraints.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MASALAH VS SOLUSI TEKNOLOGI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1784895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2580233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3375570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1784895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580233"/>
            <a:ext cx="171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3375570"/>
            <a:ext cx="1714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270545"/>
            <a:ext cx="2614612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7" y="1270545"/>
            <a:ext cx="2614612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270545"/>
            <a:ext cx="2614612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6362" y="1270545"/>
            <a:ext cx="2614612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" y="5570934"/>
            <a:ext cx="12172950" cy="12775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819150" y="2013495"/>
            <a:ext cx="22452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Stateless Security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19150" y="2310556"/>
            <a:ext cx="2138362" cy="103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REST API yang aman menggunakan token JWT stateless dilengkapi dengan pembagian hak akses terperinci Role-Based Access Control (RBAC) bagi Pasien, Dokter, dan Admin.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3624262" y="2013495"/>
            <a:ext cx="22452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Concurrency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3624262" y="2310556"/>
            <a:ext cx="2138362" cy="103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Pencegahan manipulasi kuota dokter dengan mengimplementasikan database locking tingkat row (Transactional Locking) saat proses validasi ketersediaan jadwal.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429375" y="2013495"/>
            <a:ext cx="22452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 Scheduler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429375" y="2310556"/>
            <a:ext cx="2138362" cy="103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Pembersihan otomatis oleh Scheduler Backend terhadap pendaftaran kadaluwarsa (unconfirmed bookings) setelah 15 menit jika pembayaran tidak tervalidasi.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9234487" y="2013495"/>
            <a:ext cx="22452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Medical Compliance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9234487" y="2310556"/>
            <a:ext cx="2138362" cy="86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Pembuatan Audit Logs histori perubahan status transaksi secara real-time dan penerapan kebijakan Soft Delete demi kepatuhan aturan hukum rekam medis rumah sakit.</a:t>
            </a:r>
            <a:endParaRPr/>
          </a:p>
        </p:txBody>
      </p:sp>
      <p:pic>
        <p:nvPicPr>
          <p:cNvPr id="237" name="Google Shape;23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15658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24262" y="15658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29375" y="15658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34487" y="156582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FITUR UTAMA MEDIBOOK API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44364"/>
            <a:ext cx="53244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25489"/>
            <a:ext cx="53244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525" y="3923258"/>
            <a:ext cx="209073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12" y="3923258"/>
            <a:ext cx="209073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1080045"/>
            <a:ext cx="5229225" cy="4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1637258"/>
            <a:ext cx="5038725" cy="4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2194470"/>
            <a:ext cx="4848225" cy="4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52525" y="2770733"/>
            <a:ext cx="4657725" cy="4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43025" y="3346995"/>
            <a:ext cx="4467225" cy="46196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 txBox="1"/>
          <p:nvPr/>
        </p:nvSpPr>
        <p:spPr>
          <a:xfrm>
            <a:off x="6486525" y="1496764"/>
            <a:ext cx="517064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 &amp; Service Layers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6486525" y="1715839"/>
            <a:ext cx="49244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Controller: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Menerima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HTTP, mapping HTTP Body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 Transfer Object (DTO) dan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anotasi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input (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seperti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email, phone format).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Service: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Penyelenggara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logika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inti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pemotongan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kuota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kalkulasi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jadwal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pemanggilan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enkripsi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file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resep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eksekusi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background scheduler.</a:t>
            </a:r>
            <a:endParaRPr dirty="0"/>
          </a:p>
        </p:txBody>
      </p:sp>
      <p:sp>
        <p:nvSpPr>
          <p:cNvPr id="263" name="Google Shape;263;p19"/>
          <p:cNvSpPr txBox="1"/>
          <p:nvPr/>
        </p:nvSpPr>
        <p:spPr>
          <a:xfrm>
            <a:off x="6486525" y="2877889"/>
            <a:ext cx="517064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EA5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Repository &amp; Caching Layers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6486525" y="3096964"/>
            <a:ext cx="49244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Repository: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Menangani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query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kompleks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database MySQL,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termasuk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query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khusus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diimbuhi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JPA pessimistic write locks.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Caching (Redis):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Mempercepat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loading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pencarian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nama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dokter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atau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penunjang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medis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rumah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sakit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serta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mencatat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token anti-spam (idempotency token).</a:t>
            </a:r>
            <a:endParaRPr dirty="0"/>
          </a:p>
        </p:txBody>
      </p:sp>
      <p:pic>
        <p:nvPicPr>
          <p:cNvPr id="265" name="Google Shape;265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591175" y="1239589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600700" y="1796801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 txBox="1"/>
          <p:nvPr/>
        </p:nvSpPr>
        <p:spPr>
          <a:xfrm>
            <a:off x="1085849" y="2318295"/>
            <a:ext cx="4459129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Controllers (Mapping DTO &amp; Input Validation)</a:t>
            </a:r>
            <a:endParaRPr dirty="0"/>
          </a:p>
        </p:txBody>
      </p:sp>
      <p:pic>
        <p:nvPicPr>
          <p:cNvPr id="268" name="Google Shape;268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91175" y="2363539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1276350" y="2894558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Services (Business Logic, Scheduler &amp; Locks)</a:t>
            </a:r>
            <a:endParaRPr/>
          </a:p>
        </p:txBody>
      </p:sp>
      <p:pic>
        <p:nvPicPr>
          <p:cNvPr id="270" name="Google Shape;270;p1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591175" y="2939801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1466850" y="3470820"/>
            <a:ext cx="21336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Repositories (Spring Data JPA)</a:t>
            </a:r>
            <a:endParaRPr/>
          </a:p>
        </p:txBody>
      </p:sp>
      <p:pic>
        <p:nvPicPr>
          <p:cNvPr id="272" name="Google Shape;272;p1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562600" y="3516064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86525" y="1515814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486525" y="289693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ARSITEKTUR SISTEM (HIGH-LEVEL)</a:t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3" y="716191"/>
            <a:ext cx="5781674" cy="974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9879" y="726744"/>
            <a:ext cx="5329515" cy="311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298438" y="827663"/>
            <a:ext cx="4848225" cy="86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Arsitektur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data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relasional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didukung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oleh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delapan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entitas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12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utama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93" name="Google Shape;293;p20"/>
          <p:cNvSpPr txBox="1"/>
          <p:nvPr/>
        </p:nvSpPr>
        <p:spPr>
          <a:xfrm>
            <a:off x="6730808" y="998516"/>
            <a:ext cx="4376738" cy="302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95" name="Google Shape;2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438" y="1043835"/>
            <a:ext cx="471487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6125" y="1043835"/>
            <a:ext cx="68580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08125" y="1043835"/>
            <a:ext cx="614362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98688" y="1043835"/>
            <a:ext cx="1328737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03625" y="1043835"/>
            <a:ext cx="125730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8438" y="1372448"/>
            <a:ext cx="68580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60438" y="1372448"/>
            <a:ext cx="111442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1063" y="1372448"/>
            <a:ext cx="1328737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 txBox="1"/>
          <p:nvPr/>
        </p:nvSpPr>
        <p:spPr>
          <a:xfrm>
            <a:off x="676275" y="158692"/>
            <a:ext cx="1143142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DESAIN RELASI DATABASE (ERD)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33400" y="197456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F8F5079-D18A-A82C-6446-EFCC7E6E2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44" y="827663"/>
            <a:ext cx="510267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1 -&gt; 1 patients (One-to-One)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Autentikasi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akun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pasien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terpisah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fisik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1 -&gt; 1 doctors (One-to-One)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Hak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akses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dokter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dikunci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resmi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doctors 1 -&gt; 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doctor_schedules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Seorang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dokter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memiliki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banyak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jadwal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praktik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hospital_services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1 -&gt; 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doctor_schedules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Satu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jenis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layanan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poliklinik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/lab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berbagai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jadwal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patients 1 -&gt; N bookings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Pasien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dapat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banyak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reservasi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kunjungan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doctor_schedules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1 -&gt; N bookings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Banyak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transaksi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mengacu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jadwal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hospital_services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doctors 1 -&gt; N bookings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Mengakomodasi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fleksibilitas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layanan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langsung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(Walk-In / Non-Jadwal).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bookings 1 -&gt; 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booking_events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Rekam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jejak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perubahan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status (Audit Trail)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maupun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bookings 1 -&gt; 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medical_documents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(One-to-Many)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Manajemen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berkas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(e-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hasil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rujukan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per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kunjungan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C9D1D75-11DD-C0CA-E593-5179BBD1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0" y="1868518"/>
            <a:ext cx="1260000" cy="163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00C471E-079B-EC2F-B135-E000777F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52" y="3521720"/>
            <a:ext cx="1260000" cy="2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A55AA6B-7578-231E-1929-A595E528D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96" y="1868518"/>
            <a:ext cx="1260000" cy="183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3078C7D-2642-9221-005F-232CE6162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881" y="3723793"/>
            <a:ext cx="1260000" cy="183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9041CC5-9CFA-F2BF-140B-4C200385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307" y="1908179"/>
            <a:ext cx="1260000" cy="146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1E50543-D2B2-9646-EFC1-8B21F6B38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701" y="1866867"/>
            <a:ext cx="126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766AED23-2E4F-C17E-9D14-52BD40A4D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927" y="1866867"/>
            <a:ext cx="1260000" cy="17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C18BA93-F4DE-4A84-0D7C-6F2C298CF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307" y="3440592"/>
            <a:ext cx="1260000" cy="13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>
          <a:extLst>
            <a:ext uri="{FF2B5EF4-FFF2-40B4-BE49-F238E27FC236}">
              <a16:creationId xmlns:a16="http://schemas.microsoft.com/office/drawing/2014/main" id="{306B2A90-FD71-98E8-DB68-DEC842EC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0;p18" descr="image.png">
            <a:extLst>
              <a:ext uri="{FF2B5EF4-FFF2-40B4-BE49-F238E27FC236}">
                <a16:creationId xmlns:a16="http://schemas.microsoft.com/office/drawing/2014/main" id="{122A17AD-68B3-EAC9-6CB1-9D0263A8B9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 descr="image.png">
            <a:extLst>
              <a:ext uri="{FF2B5EF4-FFF2-40B4-BE49-F238E27FC236}">
                <a16:creationId xmlns:a16="http://schemas.microsoft.com/office/drawing/2014/main" id="{C302A310-722B-986C-6F74-8D3FB3DA15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5917406"/>
            <a:ext cx="12172950" cy="93106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>
            <a:extLst>
              <a:ext uri="{FF2B5EF4-FFF2-40B4-BE49-F238E27FC236}">
                <a16:creationId xmlns:a16="http://schemas.microsoft.com/office/drawing/2014/main" id="{A70F668A-0AB2-1E58-4BE1-6C252E9D0B84}"/>
              </a:ext>
            </a:extLst>
          </p:cNvPr>
          <p:cNvSpPr txBox="1"/>
          <p:nvPr/>
        </p:nvSpPr>
        <p:spPr>
          <a:xfrm>
            <a:off x="676275" y="158692"/>
            <a:ext cx="1143142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DESAIN RELASI DATABASE (ERD)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9" name="Google Shape;309;p20">
            <a:extLst>
              <a:ext uri="{FF2B5EF4-FFF2-40B4-BE49-F238E27FC236}">
                <a16:creationId xmlns:a16="http://schemas.microsoft.com/office/drawing/2014/main" id="{D3B020A8-2FC4-6AE6-AEB5-024CB3AB6D4C}"/>
              </a:ext>
            </a:extLst>
          </p:cNvPr>
          <p:cNvSpPr/>
          <p:nvPr/>
        </p:nvSpPr>
        <p:spPr>
          <a:xfrm>
            <a:off x="533400" y="197456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A9C7D-A098-257E-6708-C72BA7404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39" y="695095"/>
            <a:ext cx="11492863" cy="512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1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6090642"/>
            <a:ext cx="12172950" cy="7578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/>
          <p:nvPr/>
        </p:nvSpPr>
        <p:spPr>
          <a:xfrm>
            <a:off x="581025" y="1080045"/>
            <a:ext cx="11029950" cy="47739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D" b="1" dirty="0"/>
              <a:t>1. 🌐 Akses Publik (</a:t>
            </a:r>
            <a:r>
              <a:rPr lang="en-ID" b="1" dirty="0" err="1"/>
              <a:t>Tanpa</a:t>
            </a:r>
            <a:r>
              <a:rPr lang="en-ID" b="1" dirty="0"/>
              <a:t> Token)</a:t>
            </a:r>
            <a:endParaRPr lang="en-ID" dirty="0"/>
          </a:p>
          <a:p>
            <a:pPr lvl="4"/>
            <a:r>
              <a:rPr lang="en-ID" dirty="0"/>
              <a:t>	POST /</a:t>
            </a:r>
            <a:r>
              <a:rPr lang="en-ID" dirty="0" err="1"/>
              <a:t>api</a:t>
            </a:r>
            <a:r>
              <a:rPr lang="en-ID" dirty="0"/>
              <a:t>/auth/register : </a:t>
            </a:r>
            <a:r>
              <a:rPr lang="en-ID" dirty="0" err="1"/>
              <a:t>Mendaftarkan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.</a:t>
            </a:r>
          </a:p>
          <a:p>
            <a:pPr lvl="4"/>
            <a:r>
              <a:rPr lang="en-ID" dirty="0"/>
              <a:t>	POST /</a:t>
            </a:r>
            <a:r>
              <a:rPr lang="en-ID" dirty="0" err="1"/>
              <a:t>api</a:t>
            </a:r>
            <a:r>
              <a:rPr lang="en-ID" dirty="0"/>
              <a:t>/auth/login : </a:t>
            </a:r>
            <a:r>
              <a:rPr lang="en-ID" dirty="0" err="1"/>
              <a:t>Autentikasi</a:t>
            </a:r>
            <a:r>
              <a:rPr lang="en-ID" dirty="0"/>
              <a:t> dan </a:t>
            </a:r>
            <a:r>
              <a:rPr lang="en-ID" dirty="0" err="1"/>
              <a:t>penerbitan</a:t>
            </a:r>
            <a:r>
              <a:rPr lang="en-ID" dirty="0"/>
              <a:t> token JWT.</a:t>
            </a:r>
          </a:p>
          <a:p>
            <a:pPr lvl="4"/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</a:t>
            </a:r>
            <a:r>
              <a:rPr lang="en-ID" dirty="0" err="1"/>
              <a:t>catalog</a:t>
            </a:r>
            <a:r>
              <a:rPr lang="en-ID" dirty="0"/>
              <a:t>/doctors :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katalog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beserta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dan </a:t>
            </a:r>
            <a:r>
              <a:rPr lang="en-ID" dirty="0" err="1"/>
              <a:t>paginasi</a:t>
            </a:r>
            <a:r>
              <a:rPr lang="en-ID" dirty="0"/>
              <a:t>.</a:t>
            </a:r>
          </a:p>
          <a:p>
            <a:pPr lvl="4"/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</a:t>
            </a:r>
            <a:r>
              <a:rPr lang="en-ID" dirty="0" err="1"/>
              <a:t>catalog</a:t>
            </a:r>
            <a:r>
              <a:rPr lang="en-ID" dirty="0"/>
              <a:t>/services : </a:t>
            </a:r>
            <a:r>
              <a:rPr lang="en-ID" dirty="0" err="1"/>
              <a:t>Melihat</a:t>
            </a:r>
            <a:r>
              <a:rPr lang="en-ID" dirty="0"/>
              <a:t> daftar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poliklinik</a:t>
            </a:r>
            <a:r>
              <a:rPr lang="en-ID" dirty="0"/>
              <a:t>/</a:t>
            </a:r>
            <a:r>
              <a:rPr lang="en-ID" dirty="0" err="1"/>
              <a:t>penunjang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.</a:t>
            </a:r>
          </a:p>
          <a:p>
            <a:r>
              <a:rPr lang="en-ID" b="1" dirty="0"/>
              <a:t>2. 🧑‍⚕️ Akses </a:t>
            </a:r>
            <a:r>
              <a:rPr lang="en-ID" b="1" dirty="0" err="1"/>
              <a:t>Pasien</a:t>
            </a:r>
            <a:r>
              <a:rPr lang="en-ID" b="1" dirty="0"/>
              <a:t> (Role: PATIENT)</a:t>
            </a:r>
            <a:endParaRPr lang="en-ID" dirty="0"/>
          </a:p>
          <a:p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/patients/me/profile : </a:t>
            </a:r>
            <a:r>
              <a:rPr lang="en-ID" dirty="0" err="1"/>
              <a:t>Melihat</a:t>
            </a:r>
            <a:r>
              <a:rPr lang="en-ID" dirty="0"/>
              <a:t> biodata </a:t>
            </a:r>
            <a:r>
              <a:rPr lang="en-ID" dirty="0" err="1"/>
              <a:t>rekam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  <a:p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/patients/me/bookings :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kunjungan</a:t>
            </a:r>
            <a:r>
              <a:rPr lang="en-ID" dirty="0"/>
              <a:t> dan status booking.</a:t>
            </a:r>
          </a:p>
          <a:p>
            <a:r>
              <a:rPr lang="en-ID" dirty="0"/>
              <a:t>	POST /</a:t>
            </a:r>
            <a:r>
              <a:rPr lang="en-ID" dirty="0" err="1"/>
              <a:t>api</a:t>
            </a:r>
            <a:r>
              <a:rPr lang="en-ID" dirty="0"/>
              <a:t>/bookings :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pendaftaran</a:t>
            </a:r>
            <a:r>
              <a:rPr lang="en-ID" dirty="0"/>
              <a:t>/</a:t>
            </a:r>
            <a:r>
              <a:rPr lang="en-ID" dirty="0" err="1"/>
              <a:t>reservasi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(</a:t>
            </a:r>
            <a:r>
              <a:rPr lang="en-ID" dirty="0" err="1"/>
              <a:t>mendukung</a:t>
            </a:r>
            <a:r>
              <a:rPr lang="en-ID" dirty="0"/>
              <a:t> upload file).	</a:t>
            </a:r>
          </a:p>
          <a:p>
            <a:r>
              <a:rPr lang="en-ID" dirty="0"/>
              <a:t>	POST /</a:t>
            </a:r>
            <a:r>
              <a:rPr lang="en-ID" dirty="0" err="1"/>
              <a:t>api</a:t>
            </a:r>
            <a:r>
              <a:rPr lang="en-ID" dirty="0"/>
              <a:t>/bookings/{id}/pay : </a:t>
            </a:r>
            <a:r>
              <a:rPr lang="en-ID" dirty="0" err="1"/>
              <a:t>Membayar</a:t>
            </a:r>
            <a:r>
              <a:rPr lang="en-ID" dirty="0"/>
              <a:t> </a:t>
            </a:r>
            <a:r>
              <a:rPr lang="en-ID" dirty="0" err="1"/>
              <a:t>tagihan</a:t>
            </a:r>
            <a:r>
              <a:rPr lang="en-ID" dirty="0"/>
              <a:t> booking (</a:t>
            </a:r>
            <a:r>
              <a:rPr lang="en-ID" dirty="0" err="1"/>
              <a:t>simulasi</a:t>
            </a:r>
            <a:r>
              <a:rPr lang="en-ID" dirty="0"/>
              <a:t> </a:t>
            </a:r>
            <a:r>
              <a:rPr lang="en-ID" i="1" dirty="0"/>
              <a:t>sandbox</a:t>
            </a:r>
            <a:r>
              <a:rPr lang="en-ID" dirty="0"/>
              <a:t>).</a:t>
            </a:r>
          </a:p>
          <a:p>
            <a:r>
              <a:rPr lang="en-ID" dirty="0"/>
              <a:t>	POST /</a:t>
            </a:r>
            <a:r>
              <a:rPr lang="en-ID" dirty="0" err="1"/>
              <a:t>api</a:t>
            </a:r>
            <a:r>
              <a:rPr lang="en-ID" dirty="0"/>
              <a:t>/bookings/{id}/reviews :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dan rating pada </a:t>
            </a:r>
            <a:r>
              <a:rPr lang="en-ID" dirty="0" err="1"/>
              <a:t>pelayanan</a:t>
            </a:r>
            <a:r>
              <a:rPr lang="en-ID" dirty="0"/>
              <a:t>.</a:t>
            </a:r>
          </a:p>
          <a:p>
            <a:r>
              <a:rPr lang="en-ID" b="1" dirty="0"/>
              <a:t>3. 🩺 Akses Dokter (Role: DOCTOR)</a:t>
            </a:r>
            <a:endParaRPr lang="en-ID" dirty="0"/>
          </a:p>
          <a:p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/doctor-panel/bookings : </a:t>
            </a:r>
            <a:r>
              <a:rPr lang="en-ID" dirty="0" err="1"/>
              <a:t>Memantau</a:t>
            </a:r>
            <a:r>
              <a:rPr lang="en-ID" dirty="0"/>
              <a:t> daftar </a:t>
            </a:r>
            <a:r>
              <a:rPr lang="en-ID" dirty="0" err="1"/>
              <a:t>pasien</a:t>
            </a:r>
            <a:r>
              <a:rPr lang="en-ID" dirty="0"/>
              <a:t> yang antre pada </a:t>
            </a: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r>
              <a:rPr lang="en-ID" dirty="0"/>
              <a:t>	PATCH /</a:t>
            </a:r>
            <a:r>
              <a:rPr lang="en-ID" dirty="0" err="1"/>
              <a:t>api</a:t>
            </a:r>
            <a:r>
              <a:rPr lang="en-ID" dirty="0"/>
              <a:t>/doctor-panel/bookings/{id}/status :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 dan </a:t>
            </a:r>
            <a:r>
              <a:rPr lang="en-ID" dirty="0" err="1"/>
              <a:t>mengubah</a:t>
            </a:r>
            <a:r>
              <a:rPr lang="en-ID" dirty="0"/>
              <a:t> status </a:t>
            </a:r>
            <a:r>
              <a:rPr lang="en-ID" dirty="0" err="1"/>
              <a:t>pemeriksaan</a:t>
            </a:r>
            <a:r>
              <a:rPr lang="en-ID" dirty="0"/>
              <a:t> 	(IN_PROGRESS </a:t>
            </a:r>
            <a:r>
              <a:rPr lang="en-ID" dirty="0" err="1"/>
              <a:t>hingga</a:t>
            </a:r>
            <a:r>
              <a:rPr lang="en-ID" dirty="0"/>
              <a:t> COMPLETED).</a:t>
            </a:r>
          </a:p>
          <a:p>
            <a:r>
              <a:rPr lang="en-ID" b="1" dirty="0"/>
              <a:t>4. 👑 Akses Administrator (Role: ADMIN)</a:t>
            </a:r>
            <a:endParaRPr lang="en-ID" dirty="0"/>
          </a:p>
          <a:p>
            <a:r>
              <a:rPr lang="en-ID" dirty="0"/>
              <a:t>	POST, PUT, DELETE /</a:t>
            </a:r>
            <a:r>
              <a:rPr lang="en-ID" dirty="0" err="1"/>
              <a:t>api</a:t>
            </a:r>
            <a:r>
              <a:rPr lang="en-ID" dirty="0"/>
              <a:t>/doctors : </a:t>
            </a:r>
            <a:r>
              <a:rPr lang="en-ID" dirty="0" err="1"/>
              <a:t>Mengelola</a:t>
            </a:r>
            <a:r>
              <a:rPr lang="en-ID" dirty="0"/>
              <a:t> data master </a:t>
            </a:r>
            <a:r>
              <a:rPr lang="en-ID" dirty="0" err="1"/>
              <a:t>profil</a:t>
            </a:r>
            <a:r>
              <a:rPr lang="en-ID" dirty="0"/>
              <a:t> Dokter.</a:t>
            </a:r>
          </a:p>
          <a:p>
            <a:r>
              <a:rPr lang="en-ID" dirty="0"/>
              <a:t>	POST, PUT, DELETE /</a:t>
            </a:r>
            <a:r>
              <a:rPr lang="en-ID" dirty="0" err="1"/>
              <a:t>api</a:t>
            </a:r>
            <a:r>
              <a:rPr lang="en-ID" dirty="0"/>
              <a:t>/services : </a:t>
            </a:r>
            <a:r>
              <a:rPr lang="en-ID" dirty="0" err="1"/>
              <a:t>Mengelola</a:t>
            </a:r>
            <a:r>
              <a:rPr lang="en-ID" dirty="0"/>
              <a:t> data master </a:t>
            </a:r>
            <a:r>
              <a:rPr lang="en-ID" dirty="0" err="1"/>
              <a:t>Layanan</a:t>
            </a:r>
            <a:r>
              <a:rPr lang="en-ID" dirty="0"/>
              <a:t> Rumah Sakit.</a:t>
            </a:r>
          </a:p>
          <a:p>
            <a:r>
              <a:rPr lang="en-ID" dirty="0"/>
              <a:t>	POST, PUT, DELETE /</a:t>
            </a:r>
            <a:r>
              <a:rPr lang="en-ID" dirty="0" err="1"/>
              <a:t>api</a:t>
            </a:r>
            <a:r>
              <a:rPr lang="en-ID" dirty="0"/>
              <a:t>/schedules :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praktek</a:t>
            </a:r>
            <a:r>
              <a:rPr lang="en-ID" dirty="0"/>
              <a:t> </a:t>
            </a:r>
            <a:r>
              <a:rPr lang="en-ID" dirty="0" err="1"/>
              <a:t>beserta</a:t>
            </a:r>
            <a:r>
              <a:rPr lang="en-ID" dirty="0"/>
              <a:t> </a:t>
            </a:r>
            <a:r>
              <a:rPr lang="en-ID" dirty="0" err="1"/>
              <a:t>kuota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.</a:t>
            </a:r>
          </a:p>
          <a:p>
            <a:r>
              <a:rPr lang="en-ID" dirty="0"/>
              <a:t>	GET /</a:t>
            </a:r>
            <a:r>
              <a:rPr lang="en-ID" dirty="0" err="1"/>
              <a:t>api</a:t>
            </a:r>
            <a:r>
              <a:rPr lang="en-ID" dirty="0"/>
              <a:t>/reports/finance :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ringkasan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&amp; </a:t>
            </a:r>
            <a:r>
              <a:rPr lang="en-ID" dirty="0" err="1"/>
              <a:t>keuangan</a:t>
            </a:r>
            <a:r>
              <a:rPr lang="en-ID" dirty="0"/>
              <a:t> </a:t>
            </a:r>
            <a:r>
              <a:rPr lang="en-ID" dirty="0" err="1"/>
              <a:t>rumah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855791" y="3275558"/>
            <a:ext cx="5750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2967037" y="3668464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4110037" y="3668464"/>
            <a:ext cx="1745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855791" y="3668464"/>
            <a:ext cx="57504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23900" y="447011"/>
            <a:ext cx="1143142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ENDPOINTS </a:t>
            </a:r>
            <a:endParaRPr dirty="0"/>
          </a:p>
        </p:txBody>
      </p:sp>
      <p:sp>
        <p:nvSpPr>
          <p:cNvPr id="343" name="Google Shape;343;p21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9695"/>
            <a:ext cx="5324475" cy="150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270545"/>
            <a:ext cx="1600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4540" y="1270545"/>
            <a:ext cx="2133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1455" y="1270545"/>
            <a:ext cx="16668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61645" y="1270545"/>
            <a:ext cx="15906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45635" y="1270545"/>
            <a:ext cx="1781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20126" y="1270545"/>
            <a:ext cx="17907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25" y="5744170"/>
            <a:ext cx="12172950" cy="1104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" y="1384845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31690" y="138484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2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58605" y="138484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2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18795" y="138484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2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002785" y="138484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2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877276" y="1384845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2"/>
          <p:cNvSpPr txBox="1"/>
          <p:nvPr/>
        </p:nvSpPr>
        <p:spPr>
          <a:xfrm>
            <a:off x="809625" y="2242095"/>
            <a:ext cx="514064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Tantangan Kuota &amp; Spam Klik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781050" y="2489745"/>
            <a:ext cx="4895850" cy="1027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Mencegah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tabrakan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pemesanan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kuota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bersamaan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(race condition) dan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serangan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spam click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ganda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pada server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rawat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jalan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rumah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sakit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1" dirty="0">
                <a:solidFill>
                  <a:srgbClr val="0D9488"/>
                </a:solidFill>
                <a:latin typeface="Inter"/>
                <a:ea typeface="Inter"/>
                <a:cs typeface="Calibri"/>
                <a:sym typeface="Inter"/>
              </a:rPr>
              <a:t>A</a:t>
            </a:r>
            <a:r>
              <a:rPr lang="en-US" sz="975" b="1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nalisa S</a:t>
            </a:r>
            <a:r>
              <a:rPr lang="en-US" sz="975" b="1" i="0" u="none" strike="noStrike" cap="none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olusi Backend: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Menyematkan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anotasi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query @Lock(LockModeType.PESSIMISTIC_WRITE) MySQL di Service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validasi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memadukannya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dengan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cache key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unik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Redis Idempotency.</a:t>
            </a:r>
            <a:endParaRPr dirty="0"/>
          </a:p>
        </p:txBody>
      </p:sp>
      <p:pic>
        <p:nvPicPr>
          <p:cNvPr id="371" name="Google Shape;371;p22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9625" y="226114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723900" y="485775"/>
            <a:ext cx="1143142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PROSES &amp; TANTANGAN DESAIN</a:t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581025" y="485775"/>
            <a:ext cx="47625" cy="36567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1569</Words>
  <Application>Microsoft Office PowerPoint</Application>
  <PresentationFormat>Widescreen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Plus Jakarta Sans</vt:lpstr>
      <vt:lpstr>Calibri</vt:lpstr>
      <vt:lpstr>Inter</vt:lpstr>
      <vt:lpstr>Inter Medium</vt:lpstr>
      <vt:lpstr>Arial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BackEndYS</dc:creator>
  <cp:lastModifiedBy>Rees Adhadina</cp:lastModifiedBy>
  <cp:revision>6</cp:revision>
  <dcterms:modified xsi:type="dcterms:W3CDTF">2026-06-26T14:28:06Z</dcterms:modified>
</cp:coreProperties>
</file>