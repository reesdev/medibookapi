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7" r:id="rId12"/>
    <p:sldId id="268" r:id="rId13"/>
    <p:sldId id="265" r:id="rId14"/>
    <p:sldId id="269" r:id="rId15"/>
  </p:sldIdLst>
  <p:sldSz cx="12192000" cy="6858000"/>
  <p:notesSz cx="6858000" cy="9144000"/>
  <p:embeddedFontLst>
    <p:embeddedFont>
      <p:font typeface="Plus Jakarta Sans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EEF7A6-C51F-4765-95DC-4421B0C34886}">
  <a:tblStyle styleId="{E7EEF7A6-C51F-4765-95DC-4421B0C3488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654" autoAdjust="0"/>
  </p:normalViewPr>
  <p:slideViewPr>
    <p:cSldViewPr snapToGrid="0">
      <p:cViewPr varScale="1">
        <p:scale>
          <a:sx n="63" d="100"/>
          <a:sy n="63" d="100"/>
        </p:scale>
        <p:origin x="1435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ID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8" name="Google Shape;21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5" name="Google Shape;2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ID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32F340C9-D112-9D81-02B1-81E16FDD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>
            <a:extLst>
              <a:ext uri="{FF2B5EF4-FFF2-40B4-BE49-F238E27FC236}">
                <a16:creationId xmlns:a16="http://schemas.microsoft.com/office/drawing/2014/main" id="{BA7200D5-C70A-CA9F-126B-55BD1236D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ID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8:notes">
            <a:extLst>
              <a:ext uri="{FF2B5EF4-FFF2-40B4-BE49-F238E27FC236}">
                <a16:creationId xmlns:a16="http://schemas.microsoft.com/office/drawing/2014/main" id="{8CE61D51-8292-5CA4-78FF-1D808E65D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11737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5" name="Google Shape;31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362581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98115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6" name="Google Shape;3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20721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39.png"/><Relationship Id="rId5" Type="http://schemas.openxmlformats.org/officeDocument/2006/relationships/image" Target="../media/image34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6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38.47.180.18:9001/swagger-ui/index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eesdev/MediBookAP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19250" y="3581570"/>
            <a:ext cx="4286250" cy="1672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581570"/>
            <a:ext cx="4286250" cy="1672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" y="6090642"/>
            <a:ext cx="12172950" cy="75783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3296350" y="1325745"/>
            <a:ext cx="8145600" cy="720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 err="1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Reesky</a:t>
            </a:r>
            <a:r>
              <a:rPr lang="en-US" sz="3900" b="1" i="0" u="none" strike="noStrike" cap="none" dirty="0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 Riko Adhadina, </a:t>
            </a:r>
            <a:r>
              <a:rPr lang="en-US" sz="3900" b="1" i="0" u="none" strike="noStrike" cap="none" dirty="0" err="1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S.Kom</a:t>
            </a:r>
            <a:r>
              <a:rPr lang="en-US" sz="3900" b="1" i="0" u="none" strike="noStrike" cap="none" dirty="0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3296350" y="2131667"/>
            <a:ext cx="77391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8BDF8"/>
                </a:solidFill>
                <a:latin typeface="+mn-lt"/>
                <a:ea typeface="Inter Medium"/>
                <a:cs typeface="Inter Medium"/>
                <a:sym typeface="Inter Medium"/>
              </a:rPr>
              <a:t>Backend Developer Portfolio &amp; Project Review</a:t>
            </a:r>
            <a:endParaRPr dirty="0">
              <a:latin typeface="+mn-lt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2171700" y="3798996"/>
            <a:ext cx="3670500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8BDF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Pendidikan &amp; Pelatihan</a:t>
            </a:r>
            <a:endParaRPr>
              <a:latin typeface="+mn-lt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1857375" y="4139676"/>
            <a:ext cx="3810000" cy="2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8FAFC"/>
                </a:solidFill>
                <a:latin typeface="+mn-lt"/>
                <a:ea typeface="Inter"/>
                <a:cs typeface="Inter"/>
                <a:sym typeface="Inter"/>
              </a:rPr>
              <a:t>S1 Teknik Informatika (Informatics)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F8FAFC"/>
                </a:solidFill>
                <a:latin typeface="+mn-lt"/>
                <a:ea typeface="Inter"/>
                <a:cs typeface="Inter"/>
                <a:sym typeface="Inter"/>
              </a:rPr>
              <a:t> Universitas Surabaya (UBAYA) — Lulus 2015</a:t>
            </a:r>
            <a:endParaRPr>
              <a:latin typeface="+mn-lt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857375" y="4615926"/>
            <a:ext cx="3810000" cy="2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BD5E1"/>
                </a:solidFill>
                <a:latin typeface="+mn-lt"/>
                <a:ea typeface="Inter"/>
                <a:cs typeface="Inter"/>
                <a:sym typeface="Inter"/>
              </a:rPr>
              <a:t>diBimbing Backend Development Bootcamp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CBD5E1"/>
                </a:solidFill>
                <a:latin typeface="+mn-lt"/>
                <a:ea typeface="Inter"/>
                <a:cs typeface="Inter"/>
                <a:sym typeface="Inter"/>
              </a:rPr>
              <a:t> Batch 6 — Desember 2025 s.d Juli 2026</a:t>
            </a:r>
            <a:endParaRPr>
              <a:latin typeface="+mn-lt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6810375" y="3798996"/>
            <a:ext cx="3700500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D948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Kontak Info</a:t>
            </a:r>
            <a:endParaRPr>
              <a:latin typeface="+mn-lt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524625" y="4139676"/>
            <a:ext cx="3810000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192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+mn-lt"/>
                <a:ea typeface="Inter"/>
                <a:cs typeface="Inter"/>
                <a:sym typeface="Inter"/>
              </a:rPr>
              <a:t>Probolinggo, Indonesia</a:t>
            </a:r>
            <a:endParaRPr>
              <a:latin typeface="+mn-lt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6524625" y="4396851"/>
            <a:ext cx="3810000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+mn-lt"/>
                <a:ea typeface="Inter"/>
                <a:cs typeface="Inter"/>
                <a:sym typeface="Inter"/>
              </a:rPr>
              <a:t>reesky.it@gmail.com</a:t>
            </a:r>
            <a:endParaRPr>
              <a:latin typeface="+mn-lt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524625" y="4654026"/>
            <a:ext cx="3810000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+mn-lt"/>
                <a:ea typeface="Inter"/>
                <a:cs typeface="Inter"/>
                <a:sym typeface="Inter"/>
              </a:rPr>
              <a:t>+62 822 3243 3695</a:t>
            </a:r>
            <a:endParaRPr>
              <a:latin typeface="+mn-lt"/>
            </a:endParaRPr>
          </a:p>
        </p:txBody>
      </p:sp>
      <p:pic>
        <p:nvPicPr>
          <p:cNvPr id="97" name="Google Shape;97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57375" y="3836810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24625" y="3836810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24625" y="4177776"/>
            <a:ext cx="857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443495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24625" y="4692126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3" title="Screenshot 2026-02-13 205920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08900" y="797510"/>
            <a:ext cx="2781300" cy="256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080045"/>
            <a:ext cx="5324475" cy="13963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080045"/>
            <a:ext cx="53244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6725" y="6115050"/>
            <a:ext cx="138112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819150" y="1318170"/>
            <a:ext cx="5090636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Ringkasan Karir</a:t>
            </a:r>
            <a:endParaRPr>
              <a:latin typeface="+mn-lt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819150" y="1638151"/>
            <a:ext cx="4848225" cy="727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+mn-lt"/>
                <a:ea typeface="Inter"/>
                <a:cs typeface="Inter"/>
                <a:sym typeface="Inter"/>
              </a:rPr>
              <a:t>Backend Developer dengan transisi karir yang didukung oleh </a:t>
            </a:r>
            <a:r>
              <a:rPr lang="en-US" sz="1050" b="1" i="0" u="none" strike="noStrike" cap="none">
                <a:solidFill>
                  <a:srgbClr val="334155"/>
                </a:solidFill>
                <a:latin typeface="+mn-lt"/>
                <a:ea typeface="Inter"/>
                <a:cs typeface="Inter"/>
                <a:sym typeface="Inter"/>
              </a:rPr>
              <a:t>9+ tahun pengalaman</a:t>
            </a:r>
            <a:r>
              <a:rPr lang="en-US" sz="1050" b="0" i="0" u="none" strike="noStrike" cap="none">
                <a:solidFill>
                  <a:srgbClr val="334155"/>
                </a:solidFill>
                <a:latin typeface="+mn-lt"/>
                <a:ea typeface="Inter"/>
                <a:cs typeface="Inter"/>
                <a:sym typeface="Inter"/>
              </a:rPr>
              <a:t> di bidang implementasi sistem IT dan penyiapan teknologi operasional rumah sakit.</a:t>
            </a:r>
            <a:endParaRPr>
              <a:latin typeface="+mn-lt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581025" y="2666851"/>
            <a:ext cx="5590698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D948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Keahlian Lapangan &amp; Infrastruktur</a:t>
            </a:r>
            <a:endParaRPr>
              <a:latin typeface="+mn-lt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581025" y="3930699"/>
            <a:ext cx="5590698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Fokus Stack Backend Baru</a:t>
            </a:r>
            <a:endParaRPr>
              <a:latin typeface="+mn-lt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581025" y="4208710"/>
            <a:ext cx="5324475" cy="467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2" b="0" i="0" u="none" strike="noStrike" cap="none">
                <a:solidFill>
                  <a:srgbClr val="475569"/>
                </a:solidFill>
                <a:latin typeface="+mn-lt"/>
                <a:ea typeface="Arial"/>
                <a:cs typeface="Arial"/>
                <a:sym typeface="Arial"/>
              </a:rPr>
              <a:t>Java, Spring Boot, REST API, Spring Security (JWT), Desain Database Relasional, Automated Testing, Containerization (Docker).</a:t>
            </a:r>
            <a:endParaRPr>
              <a:latin typeface="+mn-lt"/>
            </a:endParaRPr>
          </a:p>
        </p:txBody>
      </p:sp>
      <p:pic>
        <p:nvPicPr>
          <p:cNvPr id="119" name="Google Shape;119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96025" y="1089570"/>
            <a:ext cx="5305425" cy="3600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1346745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81025" y="2685901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4"/>
          <p:cNvSpPr txBox="1"/>
          <p:nvPr/>
        </p:nvSpPr>
        <p:spPr>
          <a:xfrm>
            <a:off x="847725" y="2944862"/>
            <a:ext cx="5057775" cy="259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Setup server lokal / VPS &amp; Perencanaan Disaster Recovery Backup.</a:t>
            </a:r>
            <a:endParaRPr>
              <a:latin typeface="+mn-lt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847725" y="3273474"/>
            <a:ext cx="5057775" cy="259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Integrasi perangkat IoT medis &amp; Koordinasi sistem terintegrasi vendor.</a:t>
            </a:r>
            <a:endParaRPr>
              <a:latin typeface="+mn-lt"/>
            </a:endParaRPr>
          </a:p>
        </p:txBody>
      </p:sp>
      <p:sp>
        <p:nvSpPr>
          <p:cNvPr id="124" name="Google Shape;124;p14"/>
          <p:cNvSpPr txBox="1"/>
          <p:nvPr/>
        </p:nvSpPr>
        <p:spPr>
          <a:xfrm>
            <a:off x="847725" y="3602087"/>
            <a:ext cx="5057775" cy="259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Kesiapan operasional sistem medis kritis 24/7.</a:t>
            </a:r>
            <a:endParaRPr>
              <a:latin typeface="+mn-lt"/>
            </a:endParaRPr>
          </a:p>
        </p:txBody>
      </p:sp>
      <p:pic>
        <p:nvPicPr>
          <p:cNvPr id="125" name="Google Shape;125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1025" y="3949749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/>
          <p:nvPr/>
        </p:nvSpPr>
        <p:spPr>
          <a:xfrm>
            <a:off x="723900" y="447011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KUALIFIKASI PROFESIONAL</a:t>
            </a:r>
            <a:endParaRPr>
              <a:latin typeface="+mn-lt"/>
            </a:endParaRPr>
          </a:p>
        </p:txBody>
      </p:sp>
      <p:sp>
        <p:nvSpPr>
          <p:cNvPr id="127" name="Google Shape;127;p14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81025" y="2963912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81025" y="3292524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81025" y="3621137"/>
            <a:ext cx="171450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080045"/>
            <a:ext cx="35242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1080045"/>
            <a:ext cx="35242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86725" y="1080045"/>
            <a:ext cx="35242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4175670"/>
            <a:ext cx="304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72000" y="4175670"/>
            <a:ext cx="304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24850" y="4175670"/>
            <a:ext cx="304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5"/>
          <p:cNvSpPr txBox="1"/>
          <p:nvPr/>
        </p:nvSpPr>
        <p:spPr>
          <a:xfrm>
            <a:off x="819150" y="1822995"/>
            <a:ext cx="3200400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CareLink — Hospital Alert</a:t>
            </a:r>
            <a:endParaRPr>
              <a:latin typeface="+mn-lt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819150" y="2142976"/>
            <a:ext cx="3048000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Full-stack Nurse Call </a:t>
            </a:r>
            <a:r>
              <a:rPr lang="en-US" sz="975" b="0" i="0" u="none" strike="noStrike" cap="none" dirty="0" err="1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dengan</a:t>
            </a:r>
            <a:r>
              <a:rPr lang="en-US" sz="975" b="0" i="0" u="none" strike="noStrike" cap="none" dirty="0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eskalasi</a:t>
            </a:r>
            <a:r>
              <a:rPr lang="en-US" sz="975" b="0" i="0" u="none" strike="noStrike" cap="none" dirty="0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 alarm </a:t>
            </a:r>
            <a:r>
              <a:rPr lang="en-US" sz="975" b="0" i="0" u="none" strike="noStrike" cap="none" dirty="0" err="1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otomatis</a:t>
            </a:r>
            <a:r>
              <a:rPr lang="en-US" sz="975" b="0" i="0" u="none" strike="noStrike" cap="none" dirty="0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 (5 </a:t>
            </a:r>
            <a:r>
              <a:rPr lang="en-US" sz="975" b="0" i="0" u="none" strike="noStrike" cap="none" dirty="0" err="1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menit</a:t>
            </a:r>
            <a:r>
              <a:rPr lang="en-US" sz="975" b="0" i="0" u="none" strike="noStrike" cap="none" dirty="0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) dan timeline audit logs.</a:t>
            </a:r>
            <a:endParaRPr dirty="0">
              <a:latin typeface="+mn-lt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819150" y="2628751"/>
            <a:ext cx="3048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+mn-lt"/>
                <a:ea typeface="Arial"/>
                <a:cs typeface="Arial"/>
                <a:sym typeface="Arial"/>
              </a:rPr>
              <a:t>Tech:</a:t>
            </a:r>
            <a:r>
              <a:rPr lang="en-US" sz="900" b="0" i="0" u="none" strike="noStrike" cap="none">
                <a:solidFill>
                  <a:srgbClr val="38BDF8"/>
                </a:solidFill>
                <a:latin typeface="+mn-lt"/>
                <a:ea typeface="Arial"/>
                <a:cs typeface="Arial"/>
                <a:sym typeface="Arial"/>
              </a:rPr>
              <a:t> Java 17, Spring Boot 3.2.5, PostgreSQL, Redis Caching, RabbitMQ, JWT, React 18</a:t>
            </a:r>
            <a:endParaRPr>
              <a:latin typeface="+mn-lt"/>
            </a:endParaRPr>
          </a:p>
        </p:txBody>
      </p:sp>
      <p:pic>
        <p:nvPicPr>
          <p:cNvPr id="149" name="Google Shape;149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19150" y="431854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4572000" y="1822995"/>
            <a:ext cx="3200400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File Storage &amp; Management API</a:t>
            </a:r>
            <a:endParaRPr>
              <a:latin typeface="+mn-lt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4572000" y="2142976"/>
            <a:ext cx="3048000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API penyimpanan file terenkripsi UUID dengan CI/CD otomatis via GitHub Actions ke VPS.</a:t>
            </a:r>
            <a:endParaRPr>
              <a:latin typeface="+mn-lt"/>
            </a:endParaRPr>
          </a:p>
        </p:txBody>
      </p:sp>
      <p:sp>
        <p:nvSpPr>
          <p:cNvPr id="152" name="Google Shape;152;p15"/>
          <p:cNvSpPr txBox="1"/>
          <p:nvPr/>
        </p:nvSpPr>
        <p:spPr>
          <a:xfrm>
            <a:off x="4572000" y="2628751"/>
            <a:ext cx="3048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+mn-lt"/>
                <a:ea typeface="Arial"/>
                <a:cs typeface="Arial"/>
                <a:sym typeface="Arial"/>
              </a:rPr>
              <a:t>Tech:</a:t>
            </a:r>
            <a:r>
              <a:rPr lang="en-US" sz="900" b="0" i="0" u="none" strike="noStrike" cap="none">
                <a:solidFill>
                  <a:srgbClr val="38BDF8"/>
                </a:solidFill>
                <a:latin typeface="+mn-lt"/>
                <a:ea typeface="Arial"/>
                <a:cs typeface="Arial"/>
                <a:sym typeface="Arial"/>
              </a:rPr>
              <a:t> Java 21, Spring Boot, Spring Security, MySQL, Docker, GitHub Actions CI/CD</a:t>
            </a:r>
            <a:endParaRPr>
              <a:latin typeface="+mn-lt"/>
            </a:endParaRPr>
          </a:p>
        </p:txBody>
      </p:sp>
      <p:pic>
        <p:nvPicPr>
          <p:cNvPr id="153" name="Google Shape;153;p15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0" y="431854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5"/>
          <p:cNvSpPr txBox="1"/>
          <p:nvPr/>
        </p:nvSpPr>
        <p:spPr>
          <a:xfrm>
            <a:off x="8324850" y="1822995"/>
            <a:ext cx="3200400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Wallet Service API</a:t>
            </a:r>
            <a:endParaRPr>
              <a:latin typeface="+mn-lt"/>
            </a:endParaRPr>
          </a:p>
        </p:txBody>
      </p:sp>
      <p:sp>
        <p:nvSpPr>
          <p:cNvPr id="155" name="Google Shape;155;p15"/>
          <p:cNvSpPr txBox="1"/>
          <p:nvPr/>
        </p:nvSpPr>
        <p:spPr>
          <a:xfrm>
            <a:off x="8324850" y="2142976"/>
            <a:ext cx="3048000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Backend dompet digital dengan transaksi aman, proteksi klik ganda (Idempotency), dan ekspor Excel.</a:t>
            </a:r>
            <a:endParaRPr>
              <a:latin typeface="+mn-lt"/>
            </a:endParaRPr>
          </a:p>
        </p:txBody>
      </p:sp>
      <p:sp>
        <p:nvSpPr>
          <p:cNvPr id="156" name="Google Shape;156;p15"/>
          <p:cNvSpPr txBox="1"/>
          <p:nvPr/>
        </p:nvSpPr>
        <p:spPr>
          <a:xfrm>
            <a:off x="8324850" y="2814488"/>
            <a:ext cx="3048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+mn-lt"/>
                <a:ea typeface="Arial"/>
                <a:cs typeface="Arial"/>
                <a:sym typeface="Arial"/>
              </a:rPr>
              <a:t>Tech:</a:t>
            </a:r>
            <a:r>
              <a:rPr lang="en-US" sz="900" b="0" i="0" u="none" strike="noStrike" cap="none">
                <a:solidFill>
                  <a:srgbClr val="38BDF8"/>
                </a:solidFill>
                <a:latin typeface="+mn-lt"/>
                <a:ea typeface="Arial"/>
                <a:cs typeface="Arial"/>
                <a:sym typeface="Arial"/>
              </a:rPr>
              <a:t> Java 21, Spring Boot, Spring Security, PostgreSQL, JPA, Apache POI</a:t>
            </a:r>
            <a:endParaRPr>
              <a:latin typeface="+mn-lt"/>
            </a:endParaRPr>
          </a:p>
        </p:txBody>
      </p:sp>
      <p:pic>
        <p:nvPicPr>
          <p:cNvPr id="157" name="Google Shape;157;p15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324850" y="4318545"/>
            <a:ext cx="114300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5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19150" y="1375320"/>
            <a:ext cx="3333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5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4572000" y="1375320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8324850" y="137532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5"/>
          <p:cNvSpPr txBox="1"/>
          <p:nvPr/>
        </p:nvSpPr>
        <p:spPr>
          <a:xfrm>
            <a:off x="723900" y="447011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PORTOFOLIO PROYEK DIBIMBING</a:t>
            </a:r>
            <a:endParaRPr dirty="0">
              <a:latin typeface="+mn-lt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645866"/>
            <a:ext cx="164782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24100" y="2645866"/>
            <a:ext cx="164782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67175" y="2645866"/>
            <a:ext cx="164782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096000" y="9525"/>
            <a:ext cx="6086475" cy="60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6"/>
          <p:cNvSpPr txBox="1"/>
          <p:nvPr/>
        </p:nvSpPr>
        <p:spPr>
          <a:xfrm>
            <a:off x="723900" y="725096"/>
            <a:ext cx="524065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PROYEK UTAMA: MEDIBOOK API</a:t>
            </a:r>
            <a:endParaRPr>
              <a:latin typeface="+mn-lt"/>
            </a:endParaRPr>
          </a:p>
        </p:txBody>
      </p:sp>
      <p:sp>
        <p:nvSpPr>
          <p:cNvPr id="176" name="Google Shape;176;p16"/>
          <p:cNvSpPr/>
          <p:nvPr/>
        </p:nvSpPr>
        <p:spPr>
          <a:xfrm>
            <a:off x="581025" y="581025"/>
            <a:ext cx="47625" cy="73134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 txBox="1"/>
          <p:nvPr/>
        </p:nvSpPr>
        <p:spPr>
          <a:xfrm>
            <a:off x="581025" y="1455241"/>
            <a:ext cx="5133975" cy="727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+mn-lt"/>
                <a:ea typeface="Inter"/>
                <a:cs typeface="Inter"/>
                <a:sym typeface="Inter"/>
              </a:rPr>
              <a:t>API terintegrasi untuk manajemen pelayanan dan pendaftaran (booking) pasien rawat jalan secara mandiri di rumah sakit. Memproses pendaftaran poliklinik spesialis maupun penunjang non-dokter secara langsung (cek lab &amp; rontgen radiologi).</a:t>
            </a:r>
            <a:endParaRPr>
              <a:latin typeface="+mn-lt"/>
            </a:endParaRPr>
          </a:p>
        </p:txBody>
      </p:sp>
      <p:sp>
        <p:nvSpPr>
          <p:cNvPr id="179" name="Google Shape;179;p16"/>
          <p:cNvSpPr txBox="1"/>
          <p:nvPr/>
        </p:nvSpPr>
        <p:spPr>
          <a:xfrm>
            <a:off x="581025" y="2398216"/>
            <a:ext cx="5390673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>
                <a:solidFill>
                  <a:srgbClr val="0D948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Target </a:t>
            </a:r>
            <a:r>
              <a:rPr lang="en-US" sz="1125" b="1" i="0" u="none" strike="noStrike" cap="none" dirty="0" err="1">
                <a:solidFill>
                  <a:srgbClr val="0D948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Pengguna</a:t>
            </a:r>
            <a:endParaRPr dirty="0">
              <a:latin typeface="+mn-lt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581025" y="3122116"/>
            <a:ext cx="5390673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 err="1">
                <a:solidFill>
                  <a:srgbClr val="E11D4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Masalah</a:t>
            </a:r>
            <a:r>
              <a:rPr lang="en-US" sz="1125" b="1" i="0" u="none" strike="noStrike" cap="none" dirty="0">
                <a:solidFill>
                  <a:srgbClr val="E11D4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 Utama Yang </a:t>
            </a:r>
            <a:r>
              <a:rPr lang="en-US" sz="1125" b="1" i="0" u="none" strike="noStrike" cap="none" dirty="0" err="1">
                <a:solidFill>
                  <a:srgbClr val="E11D48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Diselesaikan</a:t>
            </a:r>
            <a:endParaRPr dirty="0">
              <a:latin typeface="+mn-lt"/>
            </a:endParaRPr>
          </a:p>
        </p:txBody>
      </p:sp>
      <p:sp>
        <p:nvSpPr>
          <p:cNvPr id="181" name="Google Shape;181;p16"/>
          <p:cNvSpPr txBox="1"/>
          <p:nvPr/>
        </p:nvSpPr>
        <p:spPr>
          <a:xfrm>
            <a:off x="581025" y="3350716"/>
            <a:ext cx="5133975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Mengurangi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antrean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fisik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pendaftaran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rumah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sakit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,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mencegah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overbooking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kuota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dokter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, dan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memitigasi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manipulasi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/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kebocoran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berkas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resep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kertas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 </a:t>
            </a:r>
            <a:r>
              <a:rPr lang="en-US" sz="975" b="0" i="0" u="none" strike="noStrike" cap="none" dirty="0" err="1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fisik</a:t>
            </a:r>
            <a:r>
              <a:rPr lang="en-US" sz="975" b="0" i="0" u="none" strike="noStrike" cap="none" dirty="0">
                <a:solidFill>
                  <a:srgbClr val="475569"/>
                </a:solidFill>
                <a:latin typeface="+mn-lt"/>
                <a:ea typeface="Inter"/>
                <a:cs typeface="Inter"/>
                <a:sym typeface="Inter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182" name="Google Shape;18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26161" y="2417266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81025" y="314116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83373" y="2760166"/>
            <a:ext cx="133350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840736" y="2760166"/>
            <a:ext cx="1047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574286" y="2760166"/>
            <a:ext cx="142875" cy="11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080045"/>
            <a:ext cx="53244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080045"/>
            <a:ext cx="53244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7"/>
          <p:cNvSpPr txBox="1"/>
          <p:nvPr/>
        </p:nvSpPr>
        <p:spPr>
          <a:xfrm>
            <a:off x="1104900" y="1322546"/>
            <a:ext cx="479059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91B1B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Masalah Riil Rumah Sakit</a:t>
            </a:r>
            <a:endParaRPr>
              <a:latin typeface="+mn-lt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6810375" y="1322546"/>
            <a:ext cx="479059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65F46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Solusi Terintegrasi MediBook</a:t>
            </a:r>
            <a:endParaRPr>
              <a:latin typeface="+mn-lt"/>
            </a:endParaRPr>
          </a:p>
        </p:txBody>
      </p:sp>
      <p:pic>
        <p:nvPicPr>
          <p:cNvPr id="200" name="Google Shape;20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136579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7"/>
          <p:cNvSpPr txBox="1"/>
          <p:nvPr/>
        </p:nvSpPr>
        <p:spPr>
          <a:xfrm>
            <a:off x="1085850" y="1765845"/>
            <a:ext cx="458152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7F1D1D"/>
                </a:solidFill>
                <a:latin typeface="+mn-lt"/>
                <a:ea typeface="Inter"/>
                <a:cs typeface="Inter"/>
                <a:sym typeface="Inter"/>
              </a:rPr>
              <a:t>Antrean Fisik Berjam-jam:</a:t>
            </a:r>
            <a:r>
              <a:rPr lang="en-US" sz="1125" b="0" i="0" u="none" strike="noStrike" cap="none">
                <a:solidFill>
                  <a:srgbClr val="7F1D1D"/>
                </a:solidFill>
                <a:latin typeface="+mn-lt"/>
                <a:ea typeface="Inter"/>
                <a:cs typeface="Inter"/>
                <a:sym typeface="Inter"/>
              </a:rPr>
              <a:t> Pasien wajib datang dini hari hanya untuk sekadar mengambil nomor antrean loket pendaftaran rawat jalan.</a:t>
            </a:r>
            <a:endParaRPr>
              <a:latin typeface="+mn-lt"/>
            </a:endParaRPr>
          </a:p>
        </p:txBody>
      </p:sp>
      <p:sp>
        <p:nvSpPr>
          <p:cNvPr id="202" name="Google Shape;202;p17"/>
          <p:cNvSpPr txBox="1"/>
          <p:nvPr/>
        </p:nvSpPr>
        <p:spPr>
          <a:xfrm>
            <a:off x="1085850" y="2561183"/>
            <a:ext cx="4581525" cy="779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7F1D1D"/>
                </a:solidFill>
                <a:latin typeface="+mn-lt"/>
                <a:ea typeface="Inter"/>
                <a:cs typeface="Inter"/>
                <a:sym typeface="Inter"/>
              </a:rPr>
              <a:t>Kondisi Overbooking Kuota:</a:t>
            </a:r>
            <a:r>
              <a:rPr lang="en-US" sz="1125" b="0" i="0" u="none" strike="noStrike" cap="none">
                <a:solidFill>
                  <a:srgbClr val="7F1D1D"/>
                </a:solidFill>
                <a:latin typeface="+mn-lt"/>
                <a:ea typeface="Inter"/>
                <a:cs typeface="Inter"/>
                <a:sym typeface="Inter"/>
              </a:rPr>
              <a:t> Kuota dokter terlampaui dikarenakan sistem menerima banyak request pemesanan bersamaan di detik yang sama.</a:t>
            </a:r>
            <a:endParaRPr>
              <a:latin typeface="+mn-lt"/>
            </a:endParaRPr>
          </a:p>
        </p:txBody>
      </p:sp>
      <p:sp>
        <p:nvSpPr>
          <p:cNvPr id="203" name="Google Shape;203;p17"/>
          <p:cNvSpPr txBox="1"/>
          <p:nvPr/>
        </p:nvSpPr>
        <p:spPr>
          <a:xfrm>
            <a:off x="1085850" y="3356520"/>
            <a:ext cx="4581525" cy="779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7F1D1D"/>
                </a:solidFill>
                <a:latin typeface="+mn-lt"/>
                <a:ea typeface="Inter"/>
                <a:cs typeface="Inter"/>
                <a:sym typeface="Inter"/>
              </a:rPr>
              <a:t>Penyalahgunaan API (Spam Booking):</a:t>
            </a:r>
            <a:r>
              <a:rPr lang="en-US" sz="1125" b="0" i="0" u="none" strike="noStrike" cap="none">
                <a:solidFill>
                  <a:srgbClr val="7F1D1D"/>
                </a:solidFill>
                <a:latin typeface="+mn-lt"/>
                <a:ea typeface="Inter"/>
                <a:cs typeface="Inter"/>
                <a:sym typeface="Inter"/>
              </a:rPr>
              <a:t> Pasien/bot menembak endpoint booking berulang kali untuk mengamankan slot dokter langka secara curang.</a:t>
            </a:r>
            <a:endParaRPr>
              <a:latin typeface="+mn-lt"/>
            </a:endParaRPr>
          </a:p>
        </p:txBody>
      </p:sp>
      <p:pic>
        <p:nvPicPr>
          <p:cNvPr id="204" name="Google Shape;204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24625" y="136579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7"/>
          <p:cNvSpPr txBox="1"/>
          <p:nvPr/>
        </p:nvSpPr>
        <p:spPr>
          <a:xfrm>
            <a:off x="6791325" y="1765845"/>
            <a:ext cx="458152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64E3B"/>
                </a:solidFill>
                <a:latin typeface="+mn-lt"/>
                <a:ea typeface="Inter"/>
                <a:cs typeface="Inter"/>
                <a:sym typeface="Inter"/>
              </a:rPr>
              <a:t>Sistem Booking Online Mandiri:</a:t>
            </a:r>
            <a:r>
              <a:rPr lang="en-US" sz="1125" b="0" i="0" u="none" strike="noStrike" cap="none">
                <a:solidFill>
                  <a:srgbClr val="064E3B"/>
                </a:solidFill>
                <a:latin typeface="+mn-lt"/>
                <a:ea typeface="Inter"/>
                <a:cs typeface="Inter"/>
                <a:sym typeface="Inter"/>
              </a:rPr>
              <a:t> Pasien dapat mendaftar dari rumah dan otomatis mendapatkan nomor antrean kunjungan secara real-time.</a:t>
            </a:r>
            <a:endParaRPr>
              <a:latin typeface="+mn-lt"/>
            </a:endParaRPr>
          </a:p>
        </p:txBody>
      </p:sp>
      <p:sp>
        <p:nvSpPr>
          <p:cNvPr id="206" name="Google Shape;206;p17"/>
          <p:cNvSpPr txBox="1"/>
          <p:nvPr/>
        </p:nvSpPr>
        <p:spPr>
          <a:xfrm>
            <a:off x="6791325" y="2561183"/>
            <a:ext cx="458152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64E3B"/>
                </a:solidFill>
                <a:latin typeface="+mn-lt"/>
                <a:ea typeface="Inter"/>
                <a:cs typeface="Inter"/>
                <a:sym typeface="Inter"/>
              </a:rPr>
              <a:t>Database Pessimistic Locking:</a:t>
            </a:r>
            <a:r>
              <a:rPr lang="en-US" sz="1125" b="0" i="0" u="none" strike="noStrike" cap="none">
                <a:solidFill>
                  <a:srgbClr val="064E3B"/>
                </a:solidFill>
                <a:latin typeface="+mn-lt"/>
                <a:ea typeface="Inter"/>
                <a:cs typeface="Inter"/>
                <a:sym typeface="Inter"/>
              </a:rPr>
              <a:t> Mengunci baris ketersediaan kuota dokter (serialized transaksi) agar sisa kuota aman dari race condition.</a:t>
            </a:r>
            <a:endParaRPr>
              <a:latin typeface="+mn-lt"/>
            </a:endParaRPr>
          </a:p>
        </p:txBody>
      </p:sp>
      <p:sp>
        <p:nvSpPr>
          <p:cNvPr id="207" name="Google Shape;207;p17"/>
          <p:cNvSpPr txBox="1"/>
          <p:nvPr/>
        </p:nvSpPr>
        <p:spPr>
          <a:xfrm>
            <a:off x="6791325" y="3356520"/>
            <a:ext cx="4581525" cy="779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64E3B"/>
                </a:solidFill>
                <a:latin typeface="+mn-lt"/>
                <a:ea typeface="Inter"/>
                <a:cs typeface="Inter"/>
                <a:sym typeface="Inter"/>
              </a:rPr>
              <a:t>Redis Idempotency &amp; Unique Index:</a:t>
            </a:r>
            <a:r>
              <a:rPr lang="en-US" sz="1125" b="0" i="0" u="none" strike="noStrike" cap="none">
                <a:solidFill>
                  <a:srgbClr val="064E3B"/>
                </a:solidFill>
                <a:latin typeface="+mn-lt"/>
                <a:ea typeface="Inter"/>
                <a:cs typeface="Inter"/>
                <a:sym typeface="Inter"/>
              </a:rPr>
              <a:t> Proteksi duplikasi input pendaftaran pasien di hari yang sama menggunakan key Redis dan unique database constraints.</a:t>
            </a:r>
            <a:endParaRPr>
              <a:latin typeface="+mn-lt"/>
            </a:endParaRPr>
          </a:p>
        </p:txBody>
      </p:sp>
      <p:sp>
        <p:nvSpPr>
          <p:cNvPr id="208" name="Google Shape;208;p17"/>
          <p:cNvSpPr txBox="1"/>
          <p:nvPr/>
        </p:nvSpPr>
        <p:spPr>
          <a:xfrm>
            <a:off x="723900" y="447011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MASALAH VS SOLUSI TEKNOLOGI</a:t>
            </a:r>
            <a:endParaRPr>
              <a:latin typeface="+mn-lt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1784895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2580233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3375570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1784895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2580233"/>
            <a:ext cx="171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3375570"/>
            <a:ext cx="171450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86137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91250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96362" y="1270545"/>
            <a:ext cx="2614612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525" y="5570934"/>
            <a:ext cx="12172950" cy="127754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8"/>
          <p:cNvSpPr txBox="1"/>
          <p:nvPr/>
        </p:nvSpPr>
        <p:spPr>
          <a:xfrm>
            <a:off x="819150" y="2013495"/>
            <a:ext cx="2245280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Stateless Security</a:t>
            </a:r>
            <a:endParaRPr>
              <a:latin typeface="+mn-lt"/>
            </a:endParaRPr>
          </a:p>
        </p:txBody>
      </p:sp>
      <p:sp>
        <p:nvSpPr>
          <p:cNvPr id="230" name="Google Shape;230;p18"/>
          <p:cNvSpPr txBox="1"/>
          <p:nvPr/>
        </p:nvSpPr>
        <p:spPr>
          <a:xfrm>
            <a:off x="819150" y="2310556"/>
            <a:ext cx="2138362" cy="126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REST API yang aman menggunakan token JWT stateless dilengkapi dengan pembagian hak akses terperinci Role-Based Access Control (RBAC) bagi Pasien, Dokter, dan Admin.</a:t>
            </a:r>
            <a:endParaRPr>
              <a:latin typeface="+mn-lt"/>
            </a:endParaRPr>
          </a:p>
        </p:txBody>
      </p:sp>
      <p:sp>
        <p:nvSpPr>
          <p:cNvPr id="231" name="Google Shape;231;p18"/>
          <p:cNvSpPr txBox="1"/>
          <p:nvPr/>
        </p:nvSpPr>
        <p:spPr>
          <a:xfrm>
            <a:off x="3624262" y="2013495"/>
            <a:ext cx="2245280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Safe Concurrency</a:t>
            </a:r>
            <a:endParaRPr>
              <a:latin typeface="+mn-lt"/>
            </a:endParaRPr>
          </a:p>
        </p:txBody>
      </p:sp>
      <p:sp>
        <p:nvSpPr>
          <p:cNvPr id="232" name="Google Shape;232;p18"/>
          <p:cNvSpPr txBox="1"/>
          <p:nvPr/>
        </p:nvSpPr>
        <p:spPr>
          <a:xfrm>
            <a:off x="3624262" y="2310556"/>
            <a:ext cx="2138362" cy="105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Pencegahan manipulasi kuota dokter dengan mengimplementasikan database locking tingkat row (Transactional Locking) saat proses validasi ketersediaan jadwal.</a:t>
            </a:r>
            <a:endParaRPr>
              <a:latin typeface="+mn-lt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6429375" y="2013495"/>
            <a:ext cx="2245280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Task Scheduler</a:t>
            </a:r>
            <a:endParaRPr>
              <a:latin typeface="+mn-lt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6429375" y="2310556"/>
            <a:ext cx="2138362" cy="105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Pembersihan otomatis oleh Scheduler Backend terhadap pendaftaran kadaluwarsa (unconfirmed bookings) setelah 15 menit jika pembayaran tidak tervalidasi.</a:t>
            </a:r>
            <a:endParaRPr>
              <a:latin typeface="+mn-lt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9234487" y="2013495"/>
            <a:ext cx="2245280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Medical Compliance</a:t>
            </a:r>
            <a:endParaRPr>
              <a:latin typeface="+mn-lt"/>
            </a:endParaRPr>
          </a:p>
        </p:txBody>
      </p:sp>
      <p:sp>
        <p:nvSpPr>
          <p:cNvPr id="236" name="Google Shape;236;p18"/>
          <p:cNvSpPr txBox="1"/>
          <p:nvPr/>
        </p:nvSpPr>
        <p:spPr>
          <a:xfrm>
            <a:off x="9234487" y="2310556"/>
            <a:ext cx="2138362" cy="105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4A3B8"/>
                </a:solidFill>
                <a:latin typeface="+mn-lt"/>
                <a:ea typeface="Inter"/>
                <a:cs typeface="Inter"/>
                <a:sym typeface="Inter"/>
              </a:rPr>
              <a:t>Pembuatan Audit Logs histori perubahan status transaksi secara real-time dan penerapan kebijakan Soft Delete demi kepatuhan aturan hukum rekam medis rumah sakit.</a:t>
            </a:r>
            <a:endParaRPr>
              <a:latin typeface="+mn-lt"/>
            </a:endParaRPr>
          </a:p>
        </p:txBody>
      </p:sp>
      <p:pic>
        <p:nvPicPr>
          <p:cNvPr id="237" name="Google Shape;237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9150" y="156582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624262" y="1565820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8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29375" y="156582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8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9234487" y="1565820"/>
            <a:ext cx="2000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8"/>
          <p:cNvSpPr txBox="1"/>
          <p:nvPr/>
        </p:nvSpPr>
        <p:spPr>
          <a:xfrm>
            <a:off x="723900" y="447011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FITUR UTAMA MEDIBOOK API</a:t>
            </a:r>
            <a:endParaRPr>
              <a:latin typeface="+mn-lt"/>
            </a:endParaRPr>
          </a:p>
        </p:txBody>
      </p:sp>
      <p:sp>
        <p:nvSpPr>
          <p:cNvPr id="242" name="Google Shape;242;p18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9"/>
          <p:cNvSpPr txBox="1"/>
          <p:nvPr/>
        </p:nvSpPr>
        <p:spPr>
          <a:xfrm>
            <a:off x="723900" y="447011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+mn-lt"/>
                <a:ea typeface="Plus Jakarta Sans"/>
                <a:cs typeface="Plus Jakarta Sans"/>
                <a:sym typeface="Plus Jakarta Sans"/>
              </a:rPr>
              <a:t>ARSITEKTUR SISTEM (HIGH-LEVEL)</a:t>
            </a:r>
            <a:endParaRPr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2BC2E-C742-09DE-47DB-51BC9C6D0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3196"/>
            <a:ext cx="12192000" cy="22958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B1B959-AB68-DE36-3DBF-363C57FFF177}"/>
              </a:ext>
            </a:extLst>
          </p:cNvPr>
          <p:cNvSpPr txBox="1"/>
          <p:nvPr/>
        </p:nvSpPr>
        <p:spPr>
          <a:xfrm>
            <a:off x="416560" y="3630583"/>
            <a:ext cx="115011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1" i="0" dirty="0" err="1">
                <a:solidFill>
                  <a:schemeClr val="tx1"/>
                </a:solidFill>
                <a:effectLst/>
                <a:latin typeface="+mn-lt"/>
              </a:rPr>
              <a:t>Arsitektur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Linear MVC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: Alur </a:t>
            </a:r>
            <a:r>
              <a:rPr lang="en-ID" b="0" i="1" dirty="0">
                <a:solidFill>
                  <a:schemeClr val="tx1"/>
                </a:solidFill>
                <a:effectLst/>
                <a:latin typeface="+mn-lt"/>
              </a:rPr>
              <a:t>request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berjenjang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dan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terstruktur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1" i="0" dirty="0" err="1">
                <a:solidFill>
                  <a:schemeClr val="tx1"/>
                </a:solidFill>
                <a:effectLst/>
                <a:latin typeface="+mn-lt"/>
              </a:rPr>
              <a:t>Pencegatan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Akses (</a:t>
            </a:r>
            <a:r>
              <a:rPr lang="en-ID" b="1" i="1" dirty="0" err="1">
                <a:solidFill>
                  <a:schemeClr val="tx1"/>
                </a:solidFill>
                <a:effectLst/>
                <a:latin typeface="+mn-lt"/>
              </a:rPr>
              <a:t>JwtFilter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Validasi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otorisasi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di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lapisan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terluar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aplikasi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1" i="0" dirty="0" err="1">
                <a:solidFill>
                  <a:schemeClr val="tx1"/>
                </a:solidFill>
                <a:effectLst/>
                <a:latin typeface="+mn-lt"/>
              </a:rPr>
              <a:t>Pemisahan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Logika (</a:t>
            </a:r>
            <a:r>
              <a:rPr lang="en-ID" b="1" i="1" dirty="0">
                <a:solidFill>
                  <a:schemeClr val="tx1"/>
                </a:solidFill>
                <a:effectLst/>
                <a:latin typeface="+mn-lt"/>
              </a:rPr>
              <a:t>Controller &amp; Service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: </a:t>
            </a:r>
            <a:r>
              <a:rPr lang="en-ID" b="0" i="1" dirty="0">
                <a:solidFill>
                  <a:schemeClr val="tx1"/>
                </a:solidFill>
                <a:effectLst/>
                <a:latin typeface="+mn-lt"/>
              </a:rPr>
              <a:t>Controller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murni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untuk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lalu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lintas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data, </a:t>
            </a:r>
            <a:r>
              <a:rPr lang="en-ID" b="0" i="1" dirty="0">
                <a:solidFill>
                  <a:schemeClr val="tx1"/>
                </a:solidFill>
                <a:effectLst/>
                <a:latin typeface="+mn-lt"/>
              </a:rPr>
              <a:t>Service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untuk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validasi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bisnis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dan </a:t>
            </a:r>
            <a:r>
              <a:rPr lang="en-ID" b="0" i="1" dirty="0">
                <a:solidFill>
                  <a:schemeClr val="tx1"/>
                </a:solidFill>
                <a:effectLst/>
                <a:latin typeface="+mn-lt"/>
              </a:rPr>
              <a:t>Idempotency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(Redis).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b="1" i="0" dirty="0" err="1">
                <a:solidFill>
                  <a:schemeClr val="tx1"/>
                </a:solidFill>
                <a:effectLst/>
                <a:latin typeface="+mn-lt"/>
              </a:rPr>
              <a:t>Transaksional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 Database (</a:t>
            </a:r>
            <a:r>
              <a:rPr lang="en-ID" b="1" i="1" dirty="0">
                <a:solidFill>
                  <a:schemeClr val="tx1"/>
                </a:solidFill>
                <a:effectLst/>
                <a:latin typeface="+mn-lt"/>
              </a:rPr>
              <a:t>Repository</a:t>
            </a:r>
            <a:r>
              <a:rPr lang="en-ID" b="1" i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Eksekusi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b="0" i="1" dirty="0">
                <a:solidFill>
                  <a:schemeClr val="tx1"/>
                </a:solidFill>
                <a:effectLst/>
                <a:latin typeface="+mn-lt"/>
              </a:rPr>
              <a:t>query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ke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 MySQL dan </a:t>
            </a:r>
            <a:r>
              <a:rPr lang="en-ID" b="0" i="0" dirty="0" err="1">
                <a:solidFill>
                  <a:schemeClr val="tx1"/>
                </a:solidFill>
                <a:effectLst/>
                <a:latin typeface="+mn-lt"/>
              </a:rPr>
              <a:t>mengembalikan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b="0" i="1" dirty="0">
                <a:solidFill>
                  <a:schemeClr val="tx1"/>
                </a:solidFill>
                <a:effectLst/>
                <a:latin typeface="+mn-lt"/>
              </a:rPr>
              <a:t>response</a:t>
            </a:r>
            <a:r>
              <a:rPr lang="en-ID" b="0" i="0" dirty="0">
                <a:solidFill>
                  <a:schemeClr val="tx1"/>
                </a:solidFill>
                <a:effectLst/>
                <a:latin typeface="+mn-lt"/>
              </a:rPr>
              <a:t> (JSON/DTO).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42;p21">
            <a:extLst>
              <a:ext uri="{FF2B5EF4-FFF2-40B4-BE49-F238E27FC236}">
                <a16:creationId xmlns:a16="http://schemas.microsoft.com/office/drawing/2014/main" id="{D2F450BD-7A09-FFE3-C76E-3F532D283FD0}"/>
              </a:ext>
            </a:extLst>
          </p:cNvPr>
          <p:cNvSpPr txBox="1"/>
          <p:nvPr/>
        </p:nvSpPr>
        <p:spPr>
          <a:xfrm>
            <a:off x="380286" y="267299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F172A"/>
                </a:solidFill>
                <a:latin typeface="Arial" panose="020B0604020202020204" pitchFamily="34" charset="0"/>
                <a:ea typeface="Plus Jakarta Sans"/>
                <a:cs typeface="Arial" panose="020B0604020202020204" pitchFamily="34" charset="0"/>
                <a:sym typeface="Plus Jakarta Sans"/>
              </a:rPr>
              <a:t>Arsitektur</a:t>
            </a:r>
            <a:r>
              <a:rPr lang="en-US" sz="2400" b="1" i="0" u="none" strike="noStrike" cap="none" dirty="0">
                <a:solidFill>
                  <a:srgbClr val="0F172A"/>
                </a:solidFill>
                <a:latin typeface="Arial" panose="020B0604020202020204" pitchFamily="34" charset="0"/>
                <a:ea typeface="Plus Jakarta Sans"/>
                <a:cs typeface="Arial" panose="020B0604020202020204" pitchFamily="34" charset="0"/>
                <a:sym typeface="Plus Jakarta Sans"/>
              </a:rPr>
              <a:t> Data </a:t>
            </a:r>
            <a:r>
              <a:rPr lang="en-US" sz="2400" b="1" i="0" u="none" strike="noStrike" cap="none" dirty="0" err="1">
                <a:solidFill>
                  <a:srgbClr val="0F172A"/>
                </a:solidFill>
                <a:latin typeface="Arial" panose="020B0604020202020204" pitchFamily="34" charset="0"/>
                <a:ea typeface="Plus Jakarta Sans"/>
                <a:cs typeface="Arial" panose="020B0604020202020204" pitchFamily="34" charset="0"/>
                <a:sym typeface="Plus Jakarta Sans"/>
              </a:rPr>
              <a:t>Relasional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16346-C406-654F-EE49-6316C1EA8A81}"/>
              </a:ext>
            </a:extLst>
          </p:cNvPr>
          <p:cNvSpPr txBox="1"/>
          <p:nvPr/>
        </p:nvSpPr>
        <p:spPr>
          <a:xfrm>
            <a:off x="380286" y="842577"/>
            <a:ext cx="11242754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Sistem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didukung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oleh 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</a:t>
            </a:r>
            <a:r>
              <a:rPr lang="en-ID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tabel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skala</a:t>
            </a: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> Enterprise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dengan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pembagian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relasi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ketat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Pemisahan</a:t>
            </a: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Keamanan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: 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(1) ➡️ (1) 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&amp; 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Doctors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Kredensial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login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terpisah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dari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rekam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medis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Manajemen</a:t>
            </a: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Praktik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: Doctors &amp; </a:t>
            </a:r>
            <a:r>
              <a:rPr lang="en-ID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Hospital_Services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(1) ➡️ (N) </a:t>
            </a:r>
            <a:r>
              <a:rPr lang="en-ID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Doctor_Schedules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>Poros </a:t>
            </a: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Transaksi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: Patients &amp; 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Doctor_Schedules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(1) ➡️ (N) 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Bookings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Kepatuhan</a:t>
            </a: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> Audit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: Bookings (1) ➡️ (N) </a:t>
            </a:r>
            <a:r>
              <a:rPr lang="en-ID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Booking_Events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Histori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Status) &amp; </a:t>
            </a:r>
            <a:r>
              <a:rPr lang="en-ID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Medical_Documents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Arsip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e-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Resep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Rujukan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>Hilir </a:t>
            </a:r>
            <a:r>
              <a:rPr lang="en-ID" b="1" dirty="0" err="1">
                <a:latin typeface="Arial" panose="020B0604020202020204" pitchFamily="34" charset="0"/>
                <a:cs typeface="Arial" panose="020B0604020202020204" pitchFamily="34" charset="0"/>
              </a:rPr>
              <a:t>Kunjungan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Bermuara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pada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pencatatan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finansial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Transactions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) dan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ulasan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>layanan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ID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Reviews</a:t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).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D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306B2A90-FD71-98E8-DB68-DEC842EC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20;p18" descr="image.png">
            <a:extLst>
              <a:ext uri="{FF2B5EF4-FFF2-40B4-BE49-F238E27FC236}">
                <a16:creationId xmlns:a16="http://schemas.microsoft.com/office/drawing/2014/main" id="{122A17AD-68B3-EAC9-6CB1-9D0263A8B9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0" descr="image.png">
            <a:extLst>
              <a:ext uri="{FF2B5EF4-FFF2-40B4-BE49-F238E27FC236}">
                <a16:creationId xmlns:a16="http://schemas.microsoft.com/office/drawing/2014/main" id="{C302A310-722B-986C-6F74-8D3FB3DA15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5917406"/>
            <a:ext cx="12172950" cy="931068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0">
            <a:extLst>
              <a:ext uri="{FF2B5EF4-FFF2-40B4-BE49-F238E27FC236}">
                <a16:creationId xmlns:a16="http://schemas.microsoft.com/office/drawing/2014/main" id="{A70F668A-0AB2-1E58-4BE1-6C252E9D0B84}"/>
              </a:ext>
            </a:extLst>
          </p:cNvPr>
          <p:cNvSpPr txBox="1"/>
          <p:nvPr/>
        </p:nvSpPr>
        <p:spPr>
          <a:xfrm>
            <a:off x="676275" y="158692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DESAIN RELASI DATABASE (ERD)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09" name="Google Shape;309;p20">
            <a:extLst>
              <a:ext uri="{FF2B5EF4-FFF2-40B4-BE49-F238E27FC236}">
                <a16:creationId xmlns:a16="http://schemas.microsoft.com/office/drawing/2014/main" id="{D3B020A8-2FC4-6AE6-AEB5-024CB3AB6D4C}"/>
              </a:ext>
            </a:extLst>
          </p:cNvPr>
          <p:cNvSpPr/>
          <p:nvPr/>
        </p:nvSpPr>
        <p:spPr>
          <a:xfrm>
            <a:off x="533400" y="197456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ERD FINAL PROJECT.drawio.png">
            <a:extLst>
              <a:ext uri="{FF2B5EF4-FFF2-40B4-BE49-F238E27FC236}">
                <a16:creationId xmlns:a16="http://schemas.microsoft.com/office/drawing/2014/main" id="{2EDB9181-A3ED-F4A3-70C2-5B51CC46E0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97" y="601890"/>
            <a:ext cx="12023406" cy="617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2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1"/>
          <p:cNvSpPr/>
          <p:nvPr/>
        </p:nvSpPr>
        <p:spPr>
          <a:xfrm>
            <a:off x="581025" y="1080045"/>
            <a:ext cx="11029950" cy="477390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ID" b="1" dirty="0">
                <a:latin typeface="+mn-lt"/>
              </a:rPr>
              <a:t>1. 🌐 Akses Publik (</a:t>
            </a:r>
            <a:r>
              <a:rPr lang="en-ID" b="1" dirty="0" err="1">
                <a:latin typeface="+mn-lt"/>
              </a:rPr>
              <a:t>Tanpa</a:t>
            </a:r>
            <a:r>
              <a:rPr lang="en-ID" b="1" dirty="0">
                <a:latin typeface="+mn-lt"/>
              </a:rPr>
              <a:t> Token)</a:t>
            </a:r>
            <a:endParaRPr lang="en-ID" dirty="0">
              <a:latin typeface="+mn-lt"/>
            </a:endParaRPr>
          </a:p>
          <a:p>
            <a:pPr lvl="4"/>
            <a:r>
              <a:rPr lang="en-ID" dirty="0">
                <a:latin typeface="+mn-lt"/>
              </a:rPr>
              <a:t>	POST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/auth/register : </a:t>
            </a:r>
            <a:r>
              <a:rPr lang="en-ID" dirty="0" err="1">
                <a:latin typeface="+mn-lt"/>
              </a:rPr>
              <a:t>Mendaftarkan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akun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pasien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baru</a:t>
            </a:r>
            <a:r>
              <a:rPr lang="en-ID" dirty="0">
                <a:latin typeface="+mn-lt"/>
              </a:rPr>
              <a:t>.</a:t>
            </a:r>
          </a:p>
          <a:p>
            <a:pPr lvl="4"/>
            <a:r>
              <a:rPr lang="en-ID" dirty="0">
                <a:latin typeface="+mn-lt"/>
              </a:rPr>
              <a:t>	POST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/auth/login : </a:t>
            </a:r>
            <a:r>
              <a:rPr lang="en-ID" dirty="0" err="1">
                <a:latin typeface="+mn-lt"/>
              </a:rPr>
              <a:t>Autentikasi</a:t>
            </a:r>
            <a:r>
              <a:rPr lang="en-ID" dirty="0">
                <a:latin typeface="+mn-lt"/>
              </a:rPr>
              <a:t> dan </a:t>
            </a:r>
            <a:r>
              <a:rPr lang="en-ID" dirty="0" err="1">
                <a:latin typeface="+mn-lt"/>
              </a:rPr>
              <a:t>penerbitan</a:t>
            </a:r>
            <a:r>
              <a:rPr lang="en-ID" dirty="0">
                <a:latin typeface="+mn-lt"/>
              </a:rPr>
              <a:t> token JWT.</a:t>
            </a:r>
          </a:p>
          <a:p>
            <a:pPr lvl="4"/>
            <a:r>
              <a:rPr lang="en-ID" dirty="0">
                <a:latin typeface="+mn-lt"/>
              </a:rPr>
              <a:t>	GET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</a:t>
            </a:r>
            <a:r>
              <a:rPr lang="en-ID" dirty="0" err="1">
                <a:latin typeface="+mn-lt"/>
              </a:rPr>
              <a:t>catalog</a:t>
            </a:r>
            <a:r>
              <a:rPr lang="en-ID" dirty="0">
                <a:latin typeface="+mn-lt"/>
              </a:rPr>
              <a:t>/doctors : </a:t>
            </a:r>
            <a:r>
              <a:rPr lang="en-ID" dirty="0" err="1">
                <a:latin typeface="+mn-lt"/>
              </a:rPr>
              <a:t>Melihat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katalog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dokter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beserta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fitur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pencarian</a:t>
            </a:r>
            <a:r>
              <a:rPr lang="en-ID" dirty="0">
                <a:latin typeface="+mn-lt"/>
              </a:rPr>
              <a:t> dan </a:t>
            </a:r>
            <a:r>
              <a:rPr lang="en-ID" dirty="0" err="1">
                <a:latin typeface="+mn-lt"/>
              </a:rPr>
              <a:t>paginasi</a:t>
            </a:r>
            <a:r>
              <a:rPr lang="en-ID" dirty="0">
                <a:latin typeface="+mn-lt"/>
              </a:rPr>
              <a:t>.</a:t>
            </a:r>
          </a:p>
          <a:p>
            <a:pPr lvl="4"/>
            <a:r>
              <a:rPr lang="en-ID" dirty="0">
                <a:latin typeface="+mn-lt"/>
              </a:rPr>
              <a:t>	GET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</a:t>
            </a:r>
            <a:r>
              <a:rPr lang="en-ID" dirty="0" err="1">
                <a:latin typeface="+mn-lt"/>
              </a:rPr>
              <a:t>catalog</a:t>
            </a:r>
            <a:r>
              <a:rPr lang="en-ID" dirty="0">
                <a:latin typeface="+mn-lt"/>
              </a:rPr>
              <a:t>/services : </a:t>
            </a:r>
            <a:r>
              <a:rPr lang="en-ID" dirty="0" err="1">
                <a:latin typeface="+mn-lt"/>
              </a:rPr>
              <a:t>Melihat</a:t>
            </a:r>
            <a:r>
              <a:rPr lang="en-ID" dirty="0">
                <a:latin typeface="+mn-lt"/>
              </a:rPr>
              <a:t> daftar </a:t>
            </a:r>
            <a:r>
              <a:rPr lang="en-ID" dirty="0" err="1">
                <a:latin typeface="+mn-lt"/>
              </a:rPr>
              <a:t>layanan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poliklinik</a:t>
            </a:r>
            <a:r>
              <a:rPr lang="en-ID" dirty="0">
                <a:latin typeface="+mn-lt"/>
              </a:rPr>
              <a:t>/</a:t>
            </a:r>
            <a:r>
              <a:rPr lang="en-ID" dirty="0" err="1">
                <a:latin typeface="+mn-lt"/>
              </a:rPr>
              <a:t>penunjang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medis</a:t>
            </a:r>
            <a:r>
              <a:rPr lang="en-ID" dirty="0">
                <a:latin typeface="+mn-lt"/>
              </a:rPr>
              <a:t>.</a:t>
            </a:r>
          </a:p>
          <a:p>
            <a:r>
              <a:rPr lang="en-ID" b="1" dirty="0">
                <a:latin typeface="+mn-lt"/>
              </a:rPr>
              <a:t>2. 🧑‍⚕️ Akses </a:t>
            </a:r>
            <a:r>
              <a:rPr lang="en-ID" b="1" dirty="0" err="1">
                <a:latin typeface="+mn-lt"/>
              </a:rPr>
              <a:t>Pasien</a:t>
            </a:r>
            <a:r>
              <a:rPr lang="en-ID" b="1" dirty="0">
                <a:latin typeface="+mn-lt"/>
              </a:rPr>
              <a:t> (Role: PATIENT)</a:t>
            </a:r>
            <a:endParaRPr lang="en-ID" dirty="0">
              <a:latin typeface="+mn-lt"/>
            </a:endParaRPr>
          </a:p>
          <a:p>
            <a:r>
              <a:rPr lang="en-ID" dirty="0">
                <a:latin typeface="+mn-lt"/>
              </a:rPr>
              <a:t>	GET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/patients/me/profile : </a:t>
            </a:r>
            <a:r>
              <a:rPr lang="en-ID" dirty="0" err="1">
                <a:latin typeface="+mn-lt"/>
              </a:rPr>
              <a:t>Melihat</a:t>
            </a:r>
            <a:r>
              <a:rPr lang="en-ID" dirty="0">
                <a:latin typeface="+mn-lt"/>
              </a:rPr>
              <a:t> biodata </a:t>
            </a:r>
            <a:r>
              <a:rPr lang="en-ID" dirty="0" err="1">
                <a:latin typeface="+mn-lt"/>
              </a:rPr>
              <a:t>rekam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medis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diri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sendiri</a:t>
            </a:r>
            <a:r>
              <a:rPr lang="en-ID" dirty="0">
                <a:latin typeface="+mn-lt"/>
              </a:rPr>
              <a:t>.</a:t>
            </a:r>
          </a:p>
          <a:p>
            <a:r>
              <a:rPr lang="en-ID" dirty="0">
                <a:latin typeface="+mn-lt"/>
              </a:rPr>
              <a:t>	GET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/patients/me/bookings : </a:t>
            </a:r>
            <a:r>
              <a:rPr lang="en-ID" dirty="0" err="1">
                <a:latin typeface="+mn-lt"/>
              </a:rPr>
              <a:t>Melihat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riwayat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seluruh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kunjungan</a:t>
            </a:r>
            <a:r>
              <a:rPr lang="en-ID" dirty="0">
                <a:latin typeface="+mn-lt"/>
              </a:rPr>
              <a:t> dan status booking.</a:t>
            </a:r>
          </a:p>
          <a:p>
            <a:r>
              <a:rPr lang="en-ID" dirty="0">
                <a:latin typeface="+mn-lt"/>
              </a:rPr>
              <a:t>	POST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/bookings : </a:t>
            </a:r>
            <a:r>
              <a:rPr lang="en-ID" dirty="0" err="1">
                <a:latin typeface="+mn-lt"/>
              </a:rPr>
              <a:t>Melakukan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pendaftaran</a:t>
            </a:r>
            <a:r>
              <a:rPr lang="en-ID" dirty="0">
                <a:latin typeface="+mn-lt"/>
              </a:rPr>
              <a:t>/</a:t>
            </a:r>
            <a:r>
              <a:rPr lang="en-ID" dirty="0" err="1">
                <a:latin typeface="+mn-lt"/>
              </a:rPr>
              <a:t>reservasi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jadwal</a:t>
            </a:r>
            <a:r>
              <a:rPr lang="en-ID" dirty="0">
                <a:latin typeface="+mn-lt"/>
              </a:rPr>
              <a:t> (</a:t>
            </a:r>
            <a:r>
              <a:rPr lang="en-ID" dirty="0" err="1">
                <a:latin typeface="+mn-lt"/>
              </a:rPr>
              <a:t>mendukung</a:t>
            </a:r>
            <a:r>
              <a:rPr lang="en-ID" dirty="0">
                <a:latin typeface="+mn-lt"/>
              </a:rPr>
              <a:t> upload file).	</a:t>
            </a:r>
          </a:p>
          <a:p>
            <a:r>
              <a:rPr lang="en-ID" dirty="0">
                <a:latin typeface="+mn-lt"/>
              </a:rPr>
              <a:t>	POST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/bookings/{id}/pay : </a:t>
            </a:r>
            <a:r>
              <a:rPr lang="en-ID" dirty="0" err="1">
                <a:latin typeface="+mn-lt"/>
              </a:rPr>
              <a:t>Membayar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tagihan</a:t>
            </a:r>
            <a:r>
              <a:rPr lang="en-ID" dirty="0">
                <a:latin typeface="+mn-lt"/>
              </a:rPr>
              <a:t> booking (</a:t>
            </a:r>
            <a:r>
              <a:rPr lang="en-ID" dirty="0" err="1">
                <a:latin typeface="+mn-lt"/>
              </a:rPr>
              <a:t>simulasi</a:t>
            </a:r>
            <a:r>
              <a:rPr lang="en-ID" dirty="0">
                <a:latin typeface="+mn-lt"/>
              </a:rPr>
              <a:t> </a:t>
            </a:r>
            <a:r>
              <a:rPr lang="en-ID" i="1" dirty="0">
                <a:latin typeface="+mn-lt"/>
              </a:rPr>
              <a:t>sandbox</a:t>
            </a:r>
            <a:r>
              <a:rPr lang="en-ID" dirty="0">
                <a:latin typeface="+mn-lt"/>
              </a:rPr>
              <a:t>).</a:t>
            </a:r>
          </a:p>
          <a:p>
            <a:r>
              <a:rPr lang="en-ID" dirty="0">
                <a:latin typeface="+mn-lt"/>
              </a:rPr>
              <a:t>	POST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/bookings/{id}/reviews : </a:t>
            </a:r>
            <a:r>
              <a:rPr lang="en-ID" dirty="0" err="1">
                <a:latin typeface="+mn-lt"/>
              </a:rPr>
              <a:t>Memberikan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ulasan</a:t>
            </a:r>
            <a:r>
              <a:rPr lang="en-ID" dirty="0">
                <a:latin typeface="+mn-lt"/>
              </a:rPr>
              <a:t> dan rating pada </a:t>
            </a:r>
            <a:r>
              <a:rPr lang="en-ID" dirty="0" err="1">
                <a:latin typeface="+mn-lt"/>
              </a:rPr>
              <a:t>pelayanan</a:t>
            </a:r>
            <a:r>
              <a:rPr lang="en-ID" dirty="0">
                <a:latin typeface="+mn-lt"/>
              </a:rPr>
              <a:t>.</a:t>
            </a:r>
          </a:p>
          <a:p>
            <a:r>
              <a:rPr lang="en-ID" b="1" dirty="0">
                <a:latin typeface="+mn-lt"/>
              </a:rPr>
              <a:t>3. 🩺 Akses Dokter (Role: DOCTOR)</a:t>
            </a:r>
            <a:endParaRPr lang="en-ID" dirty="0">
              <a:latin typeface="+mn-lt"/>
            </a:endParaRPr>
          </a:p>
          <a:p>
            <a:r>
              <a:rPr lang="en-ID" dirty="0">
                <a:latin typeface="+mn-lt"/>
              </a:rPr>
              <a:t>	GET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/doctor-panel/bookings : </a:t>
            </a:r>
            <a:r>
              <a:rPr lang="en-ID" dirty="0" err="1">
                <a:latin typeface="+mn-lt"/>
              </a:rPr>
              <a:t>Memantau</a:t>
            </a:r>
            <a:r>
              <a:rPr lang="en-ID" dirty="0">
                <a:latin typeface="+mn-lt"/>
              </a:rPr>
              <a:t> daftar </a:t>
            </a:r>
            <a:r>
              <a:rPr lang="en-ID" dirty="0" err="1">
                <a:latin typeface="+mn-lt"/>
              </a:rPr>
              <a:t>pasien</a:t>
            </a:r>
            <a:r>
              <a:rPr lang="en-ID" dirty="0">
                <a:latin typeface="+mn-lt"/>
              </a:rPr>
              <a:t> yang antre pada </a:t>
            </a:r>
            <a:r>
              <a:rPr lang="en-ID" dirty="0" err="1">
                <a:latin typeface="+mn-lt"/>
              </a:rPr>
              <a:t>jadwal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hari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ini</a:t>
            </a:r>
            <a:r>
              <a:rPr lang="en-ID" dirty="0">
                <a:latin typeface="+mn-lt"/>
              </a:rPr>
              <a:t>.</a:t>
            </a:r>
          </a:p>
          <a:p>
            <a:r>
              <a:rPr lang="en-ID" dirty="0">
                <a:latin typeface="+mn-lt"/>
              </a:rPr>
              <a:t>	PATCH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/doctor-panel/bookings/{id}/status : </a:t>
            </a:r>
            <a:r>
              <a:rPr lang="en-ID" dirty="0" err="1">
                <a:latin typeface="+mn-lt"/>
              </a:rPr>
              <a:t>Memanggil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pasien</a:t>
            </a:r>
            <a:r>
              <a:rPr lang="en-ID" dirty="0">
                <a:latin typeface="+mn-lt"/>
              </a:rPr>
              <a:t> dan </a:t>
            </a:r>
            <a:r>
              <a:rPr lang="en-ID" dirty="0" err="1">
                <a:latin typeface="+mn-lt"/>
              </a:rPr>
              <a:t>mengubah</a:t>
            </a:r>
            <a:r>
              <a:rPr lang="en-ID" dirty="0">
                <a:latin typeface="+mn-lt"/>
              </a:rPr>
              <a:t> status </a:t>
            </a:r>
            <a:r>
              <a:rPr lang="en-ID" dirty="0" err="1">
                <a:latin typeface="+mn-lt"/>
              </a:rPr>
              <a:t>pemeriksaan</a:t>
            </a:r>
            <a:r>
              <a:rPr lang="en-ID" dirty="0">
                <a:latin typeface="+mn-lt"/>
              </a:rPr>
              <a:t> 	(IN_PROGRESS </a:t>
            </a:r>
            <a:r>
              <a:rPr lang="en-ID" dirty="0" err="1">
                <a:latin typeface="+mn-lt"/>
              </a:rPr>
              <a:t>hingga</a:t>
            </a:r>
            <a:r>
              <a:rPr lang="en-ID" dirty="0">
                <a:latin typeface="+mn-lt"/>
              </a:rPr>
              <a:t> COMPLETED).</a:t>
            </a:r>
          </a:p>
          <a:p>
            <a:r>
              <a:rPr lang="en-ID" b="1" dirty="0">
                <a:latin typeface="+mn-lt"/>
              </a:rPr>
              <a:t>4. 👑 Akses Administrator (Role: ADMIN)</a:t>
            </a:r>
            <a:endParaRPr lang="en-ID" dirty="0">
              <a:latin typeface="+mn-lt"/>
            </a:endParaRPr>
          </a:p>
          <a:p>
            <a:r>
              <a:rPr lang="en-ID" dirty="0">
                <a:latin typeface="+mn-lt"/>
              </a:rPr>
              <a:t>	POST, PUT, DELETE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/doctors : </a:t>
            </a:r>
            <a:r>
              <a:rPr lang="en-ID" dirty="0" err="1">
                <a:latin typeface="+mn-lt"/>
              </a:rPr>
              <a:t>Mengelola</a:t>
            </a:r>
            <a:r>
              <a:rPr lang="en-ID" dirty="0">
                <a:latin typeface="+mn-lt"/>
              </a:rPr>
              <a:t> data master </a:t>
            </a:r>
            <a:r>
              <a:rPr lang="en-ID" dirty="0" err="1">
                <a:latin typeface="+mn-lt"/>
              </a:rPr>
              <a:t>profil</a:t>
            </a:r>
            <a:r>
              <a:rPr lang="en-ID" dirty="0">
                <a:latin typeface="+mn-lt"/>
              </a:rPr>
              <a:t> Dokter.</a:t>
            </a:r>
          </a:p>
          <a:p>
            <a:r>
              <a:rPr lang="en-ID" dirty="0">
                <a:latin typeface="+mn-lt"/>
              </a:rPr>
              <a:t>	POST, PUT, DELETE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/services : </a:t>
            </a:r>
            <a:r>
              <a:rPr lang="en-ID" dirty="0" err="1">
                <a:latin typeface="+mn-lt"/>
              </a:rPr>
              <a:t>Mengelola</a:t>
            </a:r>
            <a:r>
              <a:rPr lang="en-ID" dirty="0">
                <a:latin typeface="+mn-lt"/>
              </a:rPr>
              <a:t> data master </a:t>
            </a:r>
            <a:r>
              <a:rPr lang="en-ID" dirty="0" err="1">
                <a:latin typeface="+mn-lt"/>
              </a:rPr>
              <a:t>Layanan</a:t>
            </a:r>
            <a:r>
              <a:rPr lang="en-ID" dirty="0">
                <a:latin typeface="+mn-lt"/>
              </a:rPr>
              <a:t> Rumah Sakit.</a:t>
            </a:r>
          </a:p>
          <a:p>
            <a:r>
              <a:rPr lang="en-ID" dirty="0">
                <a:latin typeface="+mn-lt"/>
              </a:rPr>
              <a:t>	POST, PUT, DELETE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/schedules : </a:t>
            </a:r>
            <a:r>
              <a:rPr lang="en-ID" dirty="0" err="1">
                <a:latin typeface="+mn-lt"/>
              </a:rPr>
              <a:t>Mengatur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jadwal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praktek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beserta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kuota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harian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dokter</a:t>
            </a:r>
            <a:r>
              <a:rPr lang="en-ID" dirty="0">
                <a:latin typeface="+mn-lt"/>
              </a:rPr>
              <a:t>.</a:t>
            </a:r>
          </a:p>
          <a:p>
            <a:r>
              <a:rPr lang="en-ID" dirty="0">
                <a:latin typeface="+mn-lt"/>
              </a:rPr>
              <a:t>	GET /</a:t>
            </a:r>
            <a:r>
              <a:rPr lang="en-ID" dirty="0" err="1">
                <a:latin typeface="+mn-lt"/>
              </a:rPr>
              <a:t>api</a:t>
            </a:r>
            <a:r>
              <a:rPr lang="en-ID" dirty="0">
                <a:latin typeface="+mn-lt"/>
              </a:rPr>
              <a:t>/reports/finance : </a:t>
            </a:r>
            <a:r>
              <a:rPr lang="en-ID" dirty="0" err="1">
                <a:latin typeface="+mn-lt"/>
              </a:rPr>
              <a:t>Mengakses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laporan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ringkasan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transaksi</a:t>
            </a:r>
            <a:r>
              <a:rPr lang="en-ID" dirty="0">
                <a:latin typeface="+mn-lt"/>
              </a:rPr>
              <a:t> &amp; </a:t>
            </a:r>
            <a:r>
              <a:rPr lang="en-ID" dirty="0" err="1">
                <a:latin typeface="+mn-lt"/>
              </a:rPr>
              <a:t>keuangan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rumah</a:t>
            </a:r>
            <a:r>
              <a:rPr lang="en-ID" dirty="0">
                <a:latin typeface="+mn-lt"/>
              </a:rPr>
              <a:t> </a:t>
            </a:r>
            <a:r>
              <a:rPr lang="en-ID" dirty="0" err="1">
                <a:latin typeface="+mn-lt"/>
              </a:rPr>
              <a:t>sakit</a:t>
            </a:r>
            <a:r>
              <a:rPr lang="en-ID" dirty="0">
                <a:latin typeface="+mn-lt"/>
              </a:rPr>
              <a:t>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723900" y="447011"/>
            <a:ext cx="11431428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API ENDPOINTS 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SE CASE RBAC.png">
            <a:extLst>
              <a:ext uri="{FF2B5EF4-FFF2-40B4-BE49-F238E27FC236}">
                <a16:creationId xmlns:a16="http://schemas.microsoft.com/office/drawing/2014/main" id="{82243DE8-075B-406B-2456-B69A84C2A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30" y="2755058"/>
            <a:ext cx="11841139" cy="32190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5FFA56-4C20-7AFF-5236-980C1FD94BB7}"/>
              </a:ext>
            </a:extLst>
          </p:cNvPr>
          <p:cNvSpPr txBox="1"/>
          <p:nvPr/>
        </p:nvSpPr>
        <p:spPr>
          <a:xfrm>
            <a:off x="175430" y="314961"/>
            <a:ext cx="1170161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Stateless Security &amp; Role-Based Access Control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2000" b="1" i="0" dirty="0">
                <a:solidFill>
                  <a:schemeClr val="tx1"/>
                </a:solidFill>
                <a:effectLst/>
                <a:latin typeface="+mn-lt"/>
              </a:rPr>
              <a:t> Public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Registrasi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&amp; Login (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Penerbitan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sz="2000" b="0" i="1" dirty="0">
                <a:solidFill>
                  <a:schemeClr val="tx1"/>
                </a:solidFill>
                <a:effectLst/>
                <a:latin typeface="+mn-lt"/>
              </a:rPr>
              <a:t>Bearer JWT Token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20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1" i="0" dirty="0" err="1">
                <a:solidFill>
                  <a:schemeClr val="tx1"/>
                </a:solidFill>
                <a:effectLst/>
                <a:latin typeface="+mn-lt"/>
              </a:rPr>
              <a:t>Pembatasan</a:t>
            </a:r>
            <a:r>
              <a:rPr lang="en-ID" sz="2000" b="1" i="0" dirty="0">
                <a:solidFill>
                  <a:schemeClr val="tx1"/>
                </a:solidFill>
                <a:effectLst/>
                <a:latin typeface="+mn-lt"/>
              </a:rPr>
              <a:t> 3 Peran (Roles)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ID" sz="2000" b="1" i="0" dirty="0">
                <a:solidFill>
                  <a:schemeClr val="tx1"/>
                </a:solidFill>
                <a:effectLst/>
                <a:latin typeface="+mn-lt"/>
              </a:rPr>
              <a:t>PATIENT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Reservasi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jadwal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bayar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simulasi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tagihan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, &amp;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isi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rating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pelayanan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ID" sz="2000" b="1" i="0" dirty="0">
                <a:solidFill>
                  <a:schemeClr val="tx1"/>
                </a:solidFill>
                <a:effectLst/>
                <a:latin typeface="+mn-lt"/>
              </a:rPr>
              <a:t>DOCTOR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Pantau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daftar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antrean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pasien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hari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ini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&amp;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perbarui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status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medis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ID" sz="2000" b="1" i="0" dirty="0">
                <a:solidFill>
                  <a:schemeClr val="tx1"/>
                </a:solidFill>
                <a:effectLst/>
                <a:latin typeface="+mn-lt"/>
              </a:rPr>
              <a:t>ADMIN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: Kelola data master (CRUD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layanan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jadwal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) &amp;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tarik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laporan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2000" b="0" i="0" dirty="0" err="1">
                <a:solidFill>
                  <a:schemeClr val="tx1"/>
                </a:solidFill>
                <a:effectLst/>
                <a:latin typeface="+mn-lt"/>
              </a:rPr>
              <a:t>keuangan</a:t>
            </a:r>
            <a:r>
              <a:rPr lang="en-ID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24380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8C7F180-7DDA-54C9-8CD7-8A4408637E51}"/>
              </a:ext>
            </a:extLst>
          </p:cNvPr>
          <p:cNvSpPr txBox="1"/>
          <p:nvPr/>
        </p:nvSpPr>
        <p:spPr>
          <a:xfrm>
            <a:off x="142240" y="15599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2400" b="1" i="0" dirty="0">
                <a:solidFill>
                  <a:schemeClr val="tx1"/>
                </a:solidFill>
                <a:effectLst/>
                <a:latin typeface="+mn-lt"/>
              </a:rPr>
              <a:t>Unit Testing &amp; Deployment (CI/CD)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259FB1-4DB1-F7D5-C4F3-9DB694D32BBC}"/>
              </a:ext>
            </a:extLst>
          </p:cNvPr>
          <p:cNvSpPr txBox="1"/>
          <p:nvPr/>
        </p:nvSpPr>
        <p:spPr>
          <a:xfrm>
            <a:off x="233680" y="679212"/>
            <a:ext cx="111353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D" sz="1800" b="1" i="0" dirty="0">
                <a:solidFill>
                  <a:schemeClr val="tx1"/>
                </a:solidFill>
                <a:effectLst/>
                <a:latin typeface="+mn-lt"/>
              </a:rPr>
              <a:t>Quality Assurance &amp; Infrastructure :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800" b="1" i="0" dirty="0">
                <a:solidFill>
                  <a:schemeClr val="tx1"/>
                </a:solidFill>
                <a:effectLst/>
                <a:latin typeface="+mn-lt"/>
              </a:rPr>
              <a:t> Unit Testing (H2 Database)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Pengujian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logika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bisnis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secara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terisolasi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tanpa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merusak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data </a:t>
            </a:r>
            <a:r>
              <a:rPr lang="en-ID" sz="1800" b="0" i="1" dirty="0">
                <a:solidFill>
                  <a:schemeClr val="tx1"/>
                </a:solidFill>
                <a:effectLst/>
                <a:latin typeface="+mn-lt"/>
              </a:rPr>
              <a:t>production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800" b="1" i="0" dirty="0">
                <a:solidFill>
                  <a:schemeClr val="tx1"/>
                </a:solidFill>
                <a:effectLst/>
                <a:latin typeface="+mn-lt"/>
              </a:rPr>
              <a:t> Containerization (Docker)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Pemaketan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aplikasi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dan </a:t>
            </a:r>
            <a:r>
              <a:rPr lang="en-ID" sz="1800" b="0" i="1" dirty="0">
                <a:solidFill>
                  <a:schemeClr val="tx1"/>
                </a:solidFill>
                <a:effectLst/>
                <a:latin typeface="+mn-lt"/>
              </a:rPr>
              <a:t>dependencies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 (Java, Redis) agar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berjalan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konsisten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800" b="1" i="0" dirty="0">
                <a:solidFill>
                  <a:schemeClr val="tx1"/>
                </a:solidFill>
                <a:effectLst/>
                <a:latin typeface="+mn-lt"/>
              </a:rPr>
              <a:t> Cloud Deployment (VPS)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Aplikasi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berstatus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sz="1800" b="0" i="1" dirty="0">
                <a:solidFill>
                  <a:schemeClr val="tx1"/>
                </a:solidFill>
                <a:effectLst/>
                <a:latin typeface="+mn-lt"/>
              </a:rPr>
              <a:t>Live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ID" sz="1800" b="0" i="0" dirty="0" err="1">
                <a:solidFill>
                  <a:schemeClr val="tx1"/>
                </a:solidFill>
                <a:effectLst/>
                <a:latin typeface="+mn-lt"/>
              </a:rPr>
              <a:t>beroperasi</a:t>
            </a:r>
            <a:r>
              <a:rPr lang="en-ID" sz="1800" b="0" i="0" dirty="0">
                <a:solidFill>
                  <a:schemeClr val="tx1"/>
                </a:solidFill>
                <a:effectLst/>
                <a:latin typeface="+mn-lt"/>
              </a:rPr>
              <a:t> di Virtual Private Server (Ubuntu).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AD7608-0690-F966-167B-53BC165AD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730" y="4660999"/>
            <a:ext cx="11069891" cy="1709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2480CD-E723-E055-DFDB-5F7CB8A36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730" y="2377440"/>
            <a:ext cx="10993056" cy="197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07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5744170"/>
            <a:ext cx="12172950" cy="1104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" y="1384845"/>
            <a:ext cx="9525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31690" y="1384845"/>
            <a:ext cx="12382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22"/>
          <p:cNvSpPr txBox="1"/>
          <p:nvPr/>
        </p:nvSpPr>
        <p:spPr>
          <a:xfrm>
            <a:off x="507365" y="1016545"/>
            <a:ext cx="11177270" cy="2369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ID" b="1" dirty="0"/>
              <a:t>1. </a:t>
            </a:r>
            <a:r>
              <a:rPr lang="en-ID" b="1" dirty="0" err="1"/>
              <a:t>Tantangan</a:t>
            </a:r>
            <a:r>
              <a:rPr lang="en-ID" b="1" dirty="0"/>
              <a:t> </a:t>
            </a:r>
            <a:r>
              <a:rPr lang="en-ID" b="1" dirty="0" err="1"/>
              <a:t>Kuota</a:t>
            </a:r>
            <a:r>
              <a:rPr lang="en-ID" b="1" dirty="0"/>
              <a:t> &amp; Spam </a:t>
            </a:r>
            <a:r>
              <a:rPr lang="en-ID" b="1" dirty="0" err="1"/>
              <a:t>Klik</a:t>
            </a:r>
            <a:r>
              <a:rPr lang="en-ID" dirty="0"/>
              <a:t>: </a:t>
            </a:r>
            <a:r>
              <a:rPr lang="en-ID" dirty="0" err="1"/>
              <a:t>Mencegah</a:t>
            </a:r>
            <a:r>
              <a:rPr lang="en-ID" dirty="0"/>
              <a:t> </a:t>
            </a:r>
            <a:r>
              <a:rPr lang="en-ID" dirty="0" err="1"/>
              <a:t>tabrakan</a:t>
            </a:r>
            <a:r>
              <a:rPr lang="en-ID" dirty="0"/>
              <a:t> </a:t>
            </a:r>
            <a:r>
              <a:rPr lang="en-ID" dirty="0" err="1"/>
              <a:t>pemesanan</a:t>
            </a:r>
            <a:r>
              <a:rPr lang="en-ID" dirty="0"/>
              <a:t> </a:t>
            </a:r>
            <a:r>
              <a:rPr lang="en-ID" dirty="0" err="1"/>
              <a:t>kuota</a:t>
            </a:r>
            <a:r>
              <a:rPr lang="en-ID" dirty="0"/>
              <a:t> </a:t>
            </a:r>
            <a:r>
              <a:rPr lang="en-ID" dirty="0" err="1"/>
              <a:t>bersamaan</a:t>
            </a:r>
            <a:r>
              <a:rPr lang="en-ID" dirty="0"/>
              <a:t> (</a:t>
            </a:r>
            <a:r>
              <a:rPr lang="en-ID" i="1" dirty="0"/>
              <a:t>Race Condition</a:t>
            </a:r>
            <a:r>
              <a:rPr lang="en-ID" dirty="0"/>
              <a:t>) &amp; spam </a:t>
            </a:r>
            <a:r>
              <a:rPr lang="en-ID" dirty="0" err="1"/>
              <a:t>klik</a:t>
            </a:r>
            <a:r>
              <a:rPr lang="en-ID" dirty="0"/>
              <a:t>.</a:t>
            </a:r>
          </a:p>
          <a:p>
            <a:pPr lvl="1"/>
            <a:r>
              <a:rPr lang="en-ID" b="1" dirty="0"/>
              <a:t>Solusi</a:t>
            </a:r>
            <a:r>
              <a:rPr lang="en-ID" dirty="0"/>
              <a:t>: </a:t>
            </a:r>
            <a:r>
              <a:rPr lang="en-ID" dirty="0" err="1"/>
              <a:t>Memadukan</a:t>
            </a:r>
            <a:r>
              <a:rPr lang="en-ID" dirty="0"/>
              <a:t> Redis Idempotency </a:t>
            </a:r>
            <a:r>
              <a:rPr lang="en-ID" dirty="0" err="1"/>
              <a:t>dengan</a:t>
            </a:r>
            <a:r>
              <a:rPr lang="en-ID" dirty="0"/>
              <a:t> @Lock(PESSIMISTIC_WRITE) MySQL dan level </a:t>
            </a:r>
            <a:r>
              <a:rPr lang="en-ID" dirty="0" err="1"/>
              <a:t>isolasi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 </a:t>
            </a:r>
            <a:r>
              <a:rPr lang="en-ID" i="1" dirty="0"/>
              <a:t>READ_COMMITTED</a:t>
            </a:r>
            <a:r>
              <a:rPr lang="en-ID" dirty="0"/>
              <a:t>.</a:t>
            </a:r>
          </a:p>
          <a:p>
            <a:pPr lvl="1"/>
            <a:endParaRPr lang="en-ID" dirty="0"/>
          </a:p>
          <a:p>
            <a:r>
              <a:rPr lang="en-ID" b="1" dirty="0"/>
              <a:t>2. Constraint Database pada Unit Test</a:t>
            </a:r>
            <a:r>
              <a:rPr lang="en-ID" dirty="0"/>
              <a:t>: </a:t>
            </a:r>
            <a:r>
              <a:rPr lang="en-ID" dirty="0" err="1"/>
              <a:t>Pengujian</a:t>
            </a:r>
            <a:r>
              <a:rPr lang="en-ID" dirty="0"/>
              <a:t> </a:t>
            </a:r>
            <a:r>
              <a:rPr lang="en-ID" i="1" dirty="0"/>
              <a:t>Concurrency</a:t>
            </a:r>
            <a:r>
              <a:rPr lang="en-ID" dirty="0"/>
              <a:t> </a:t>
            </a:r>
            <a:r>
              <a:rPr lang="en-ID" dirty="0" err="1"/>
              <a:t>gagal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bentrok</a:t>
            </a:r>
            <a:r>
              <a:rPr lang="en-ID" dirty="0"/>
              <a:t> </a:t>
            </a:r>
            <a:r>
              <a:rPr lang="en-ID" dirty="0" err="1"/>
              <a:t>aturan</a:t>
            </a:r>
            <a:r>
              <a:rPr lang="en-ID" dirty="0"/>
              <a:t> </a:t>
            </a:r>
            <a:r>
              <a:rPr lang="en-ID" i="1" dirty="0"/>
              <a:t>Soft Delete</a:t>
            </a:r>
            <a:r>
              <a:rPr lang="en-ID" dirty="0"/>
              <a:t> &amp; </a:t>
            </a:r>
            <a:r>
              <a:rPr lang="en-ID" i="1" dirty="0"/>
              <a:t>Foreign Key</a:t>
            </a:r>
            <a:r>
              <a:rPr lang="en-ID" dirty="0"/>
              <a:t>.</a:t>
            </a:r>
          </a:p>
          <a:p>
            <a:pPr lvl="1"/>
            <a:r>
              <a:rPr lang="en-ID" b="1" dirty="0"/>
              <a:t>Solusi</a:t>
            </a:r>
            <a:r>
              <a:rPr lang="en-ID" dirty="0"/>
              <a:t>: </a:t>
            </a:r>
            <a:r>
              <a:rPr lang="en-ID" dirty="0" err="1"/>
              <a:t>Menyuntikkan</a:t>
            </a:r>
            <a:r>
              <a:rPr lang="en-ID" dirty="0"/>
              <a:t> </a:t>
            </a:r>
            <a:r>
              <a:rPr lang="en-ID" b="1" dirty="0" err="1"/>
              <a:t>JdbcTemplate</a:t>
            </a:r>
            <a:r>
              <a:rPr lang="en-ID" dirty="0"/>
              <a:t> 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mengeksekusi</a:t>
            </a:r>
            <a:r>
              <a:rPr lang="en-ID" dirty="0"/>
              <a:t> SQL </a:t>
            </a:r>
            <a:r>
              <a:rPr lang="en-ID" i="1" dirty="0"/>
              <a:t>Native</a:t>
            </a:r>
            <a:r>
              <a:rPr lang="en-ID" dirty="0"/>
              <a:t> (TRUNCATE TABLE) mem-bypass </a:t>
            </a:r>
            <a:r>
              <a:rPr lang="en-ID" dirty="0" err="1"/>
              <a:t>sistem</a:t>
            </a:r>
            <a:r>
              <a:rPr lang="en-ID" dirty="0"/>
              <a:t> JPA.</a:t>
            </a:r>
          </a:p>
          <a:p>
            <a:endParaRPr lang="en-ID" b="1" dirty="0"/>
          </a:p>
          <a:p>
            <a:r>
              <a:rPr lang="en-ID" b="1" dirty="0"/>
              <a:t>3. </a:t>
            </a:r>
            <a:r>
              <a:rPr lang="en-ID" b="1" dirty="0" err="1"/>
              <a:t>Pemisahan</a:t>
            </a:r>
            <a:r>
              <a:rPr lang="en-ID" b="1" dirty="0"/>
              <a:t> </a:t>
            </a:r>
            <a:r>
              <a:rPr lang="en-ID" b="1" dirty="0" err="1"/>
              <a:t>Otorisasi</a:t>
            </a:r>
            <a:r>
              <a:rPr lang="en-ID" b="1" dirty="0"/>
              <a:t> (RBAC) Stateless</a:t>
            </a:r>
            <a:r>
              <a:rPr lang="en-ID" dirty="0"/>
              <a:t>: </a:t>
            </a:r>
            <a:r>
              <a:rPr lang="en-ID" dirty="0" err="1"/>
              <a:t>Keamanan</a:t>
            </a:r>
            <a:r>
              <a:rPr lang="en-ID" dirty="0"/>
              <a:t> data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membebani</a:t>
            </a:r>
            <a:r>
              <a:rPr lang="en-ID" dirty="0"/>
              <a:t> </a:t>
            </a:r>
            <a:r>
              <a:rPr lang="en-ID" dirty="0" err="1"/>
              <a:t>memori</a:t>
            </a:r>
            <a:r>
              <a:rPr lang="en-ID" dirty="0"/>
              <a:t> server (</a:t>
            </a:r>
            <a:r>
              <a:rPr lang="en-ID" i="1" dirty="0" err="1"/>
              <a:t>Sessionless</a:t>
            </a:r>
            <a:r>
              <a:rPr lang="en-ID" dirty="0"/>
              <a:t>).</a:t>
            </a:r>
          </a:p>
          <a:p>
            <a:pPr lvl="1"/>
            <a:r>
              <a:rPr lang="en-ID" b="1" dirty="0"/>
              <a:t>Solusi</a:t>
            </a:r>
            <a:r>
              <a:rPr lang="en-ID" dirty="0"/>
              <a:t>: </a:t>
            </a:r>
            <a:r>
              <a:rPr lang="en-ID" dirty="0" err="1"/>
              <a:t>Implementasi</a:t>
            </a:r>
            <a:r>
              <a:rPr lang="en-ID" dirty="0"/>
              <a:t> </a:t>
            </a:r>
            <a:r>
              <a:rPr lang="en-ID" b="1" dirty="0"/>
              <a:t>Stateless JWT</a:t>
            </a:r>
            <a:r>
              <a:rPr lang="en-ID" dirty="0"/>
              <a:t> via </a:t>
            </a:r>
            <a:r>
              <a:rPr lang="en-ID" i="1" dirty="0"/>
              <a:t>Spring Security Filter Chain</a:t>
            </a:r>
            <a:r>
              <a:rPr lang="en-ID" dirty="0"/>
              <a:t>.</a:t>
            </a:r>
          </a:p>
          <a:p>
            <a:endParaRPr lang="en-ID" b="1" dirty="0"/>
          </a:p>
          <a:p>
            <a:r>
              <a:rPr lang="en-ID" b="1" dirty="0"/>
              <a:t>4. </a:t>
            </a:r>
            <a:r>
              <a:rPr lang="en-ID" b="1" dirty="0" err="1"/>
              <a:t>Infrastruktur</a:t>
            </a:r>
            <a:r>
              <a:rPr lang="en-ID" b="1" dirty="0"/>
              <a:t> CI/CD (DevOps)</a:t>
            </a:r>
            <a:r>
              <a:rPr lang="en-ID" dirty="0"/>
              <a:t>: Pipeline </a:t>
            </a:r>
            <a:r>
              <a:rPr lang="en-ID" i="1" dirty="0"/>
              <a:t>deployment</a:t>
            </a:r>
            <a:r>
              <a:rPr lang="en-ID" dirty="0"/>
              <a:t> </a:t>
            </a:r>
            <a:r>
              <a:rPr lang="en-ID" dirty="0" err="1"/>
              <a:t>gagal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 </a:t>
            </a:r>
            <a:r>
              <a:rPr lang="en-ID" i="1" dirty="0"/>
              <a:t>permission</a:t>
            </a:r>
            <a:r>
              <a:rPr lang="en-ID" dirty="0"/>
              <a:t> server VPS </a:t>
            </a:r>
            <a:r>
              <a:rPr lang="en-ID" dirty="0" err="1"/>
              <a:t>terkunci</a:t>
            </a:r>
            <a:r>
              <a:rPr lang="en-ID" dirty="0"/>
              <a:t>.</a:t>
            </a:r>
          </a:p>
          <a:p>
            <a:pPr lvl="1"/>
            <a:r>
              <a:rPr lang="en-ID" b="1" dirty="0"/>
              <a:t>Solusi</a:t>
            </a:r>
            <a:r>
              <a:rPr lang="en-ID" dirty="0"/>
              <a:t>: </a:t>
            </a:r>
            <a:r>
              <a:rPr lang="en-ID" dirty="0" err="1"/>
              <a:t>Memahami</a:t>
            </a:r>
            <a:r>
              <a:rPr lang="en-ID" dirty="0"/>
              <a:t> </a:t>
            </a:r>
            <a:r>
              <a:rPr lang="en-ID" i="1" dirty="0"/>
              <a:t>Role Management</a:t>
            </a:r>
            <a:r>
              <a:rPr lang="en-ID" dirty="0"/>
              <a:t> &amp; Hak Akses VPS </a:t>
            </a:r>
            <a:r>
              <a:rPr lang="en-ID" i="1" dirty="0"/>
              <a:t>Production</a:t>
            </a:r>
            <a:r>
              <a:rPr lang="en-ID" dirty="0"/>
              <a:t> di </a:t>
            </a:r>
            <a:r>
              <a:rPr lang="en-ID" dirty="0" err="1"/>
              <a:t>lingkungan</a:t>
            </a:r>
            <a:r>
              <a:rPr lang="en-ID" dirty="0"/>
              <a:t> </a:t>
            </a:r>
            <a:r>
              <a:rPr lang="en-ID" i="1" dirty="0"/>
              <a:t>bootcamp/enterprise</a:t>
            </a:r>
            <a:r>
              <a:rPr lang="en-ID" dirty="0"/>
              <a:t>.</a:t>
            </a:r>
          </a:p>
        </p:txBody>
      </p:sp>
      <p:sp>
        <p:nvSpPr>
          <p:cNvPr id="373" name="Google Shape;373;p22"/>
          <p:cNvSpPr txBox="1"/>
          <p:nvPr/>
        </p:nvSpPr>
        <p:spPr>
          <a:xfrm>
            <a:off x="723900" y="485775"/>
            <a:ext cx="1143142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PROSES &amp; TANTANGAN DESAIN</a:t>
            </a:r>
            <a:endParaRPr dirty="0"/>
          </a:p>
        </p:txBody>
      </p:sp>
      <p:sp>
        <p:nvSpPr>
          <p:cNvPr id="374" name="Google Shape;374;p22"/>
          <p:cNvSpPr/>
          <p:nvPr/>
        </p:nvSpPr>
        <p:spPr>
          <a:xfrm>
            <a:off x="581025" y="485775"/>
            <a:ext cx="47625" cy="36567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6E7B9-6513-19B0-5233-EAC4C126DB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760" y="484187"/>
            <a:ext cx="7772400" cy="1470025"/>
          </a:xfrm>
        </p:spPr>
        <p:txBody>
          <a:bodyPr/>
          <a:lstStyle/>
          <a:p>
            <a:r>
              <a:rPr lang="en-ID" dirty="0" err="1"/>
              <a:t>Terima</a:t>
            </a:r>
            <a:r>
              <a:rPr lang="en-ID" dirty="0"/>
              <a:t> Kasih</a:t>
            </a:r>
            <a:br>
              <a:rPr lang="en-ID" dirty="0"/>
            </a:b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D61FA9-C98C-8E1D-E6A2-4A153C3843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4560" y="1954212"/>
            <a:ext cx="10810240" cy="1752600"/>
          </a:xfrm>
        </p:spPr>
        <p:txBody>
          <a:bodyPr>
            <a:normAutofit/>
          </a:bodyPr>
          <a:lstStyle/>
          <a:p>
            <a:pPr algn="l"/>
            <a:r>
              <a:rPr lang="en-ID" sz="2400" b="1" dirty="0">
                <a:solidFill>
                  <a:schemeClr val="tx1"/>
                </a:solidFill>
              </a:rPr>
              <a:t>Live Demo Swagger UI</a:t>
            </a:r>
            <a:r>
              <a:rPr lang="en-ID" sz="2400" dirty="0">
                <a:solidFill>
                  <a:schemeClr val="tx1"/>
                </a:solidFill>
              </a:rPr>
              <a:t>: </a:t>
            </a:r>
            <a:r>
              <a:rPr lang="en-ID" sz="2400" dirty="0">
                <a:solidFill>
                  <a:schemeClr val="tx1"/>
                </a:solidFill>
                <a:hlinkClick r:id="rId3"/>
              </a:rPr>
              <a:t>http://38.47.180.18:9001/swagger-ui/index.html</a:t>
            </a:r>
            <a:endParaRPr lang="en-ID" sz="2400" dirty="0">
              <a:solidFill>
                <a:schemeClr val="tx1"/>
              </a:solidFill>
            </a:endParaRPr>
          </a:p>
          <a:p>
            <a:pPr algn="l"/>
            <a:r>
              <a:rPr lang="en-ID" sz="2400" b="1" dirty="0">
                <a:solidFill>
                  <a:schemeClr val="tx1"/>
                </a:solidFill>
              </a:rPr>
              <a:t>GitHub Repo</a:t>
            </a:r>
            <a:r>
              <a:rPr lang="en-ID" sz="2400" dirty="0">
                <a:solidFill>
                  <a:schemeClr val="tx1"/>
                </a:solidFill>
              </a:rPr>
              <a:t>: </a:t>
            </a:r>
            <a:r>
              <a:rPr lang="en-ID" sz="2400" i="1" dirty="0">
                <a:solidFill>
                  <a:schemeClr val="tx1"/>
                </a:solidFill>
                <a:hlinkClick r:id="rId4"/>
              </a:rPr>
              <a:t>https://github.com/reesdev/MediBookAPI</a:t>
            </a:r>
            <a:endParaRPr lang="en-ID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504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1398</Words>
  <Application>Microsoft Office PowerPoint</Application>
  <PresentationFormat>Widescreen</PresentationFormat>
  <Paragraphs>116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Plus Jakarta Sans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Terima Kasih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BackEndYS</dc:creator>
  <cp:lastModifiedBy>Rees Adhadina</cp:lastModifiedBy>
  <cp:revision>13</cp:revision>
  <dcterms:modified xsi:type="dcterms:W3CDTF">2026-06-26T16:07:34Z</dcterms:modified>
</cp:coreProperties>
</file>