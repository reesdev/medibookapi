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  <p:italic r:id="rId16"/>
      <p:boldItalic r:id="rId17"/>
    </p:embeddedFont>
    <p:embeddedFont>
      <p:font typeface="Inter Medium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lus Jakarta Sans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EEF7A6-C51F-4765-95DC-4421B0C34886}">
  <a:tblStyle styleId="{E7EEF7A6-C51F-4765-95DC-4421B0C3488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32F340C9-D112-9D81-02B1-81E16FDD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>
            <a:extLst>
              <a:ext uri="{FF2B5EF4-FFF2-40B4-BE49-F238E27FC236}">
                <a16:creationId xmlns:a16="http://schemas.microsoft.com/office/drawing/2014/main" id="{BA7200D5-C70A-CA9F-126B-55BD1236D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8:notes">
            <a:extLst>
              <a:ext uri="{FF2B5EF4-FFF2-40B4-BE49-F238E27FC236}">
                <a16:creationId xmlns:a16="http://schemas.microsoft.com/office/drawing/2014/main" id="{8CE61D51-8292-5CA4-78FF-1D808E65D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11737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39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10.png"/><Relationship Id="rId7" Type="http://schemas.openxmlformats.org/officeDocument/2006/relationships/image" Target="../media/image58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1.png"/><Relationship Id="rId5" Type="http://schemas.openxmlformats.org/officeDocument/2006/relationships/image" Target="../media/image56.png"/><Relationship Id="rId15" Type="http://schemas.openxmlformats.org/officeDocument/2006/relationships/image" Target="../media/image65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5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1.png"/><Relationship Id="rId21" Type="http://schemas.openxmlformats.org/officeDocument/2006/relationships/image" Target="../media/image88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13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2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9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3" Type="http://schemas.openxmlformats.org/officeDocument/2006/relationships/image" Target="../media/image10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9250" y="3581570"/>
            <a:ext cx="4286250" cy="1672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581570"/>
            <a:ext cx="4286250" cy="1672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" y="6090642"/>
            <a:ext cx="12172950" cy="75783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3296350" y="1325745"/>
            <a:ext cx="8145600" cy="720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 err="1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Reesky</a:t>
            </a:r>
            <a:r>
              <a:rPr lang="en-US" sz="3900" b="1" i="0" u="none" strike="noStrike" cap="none" dirty="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Riko Adhadina, </a:t>
            </a:r>
            <a:r>
              <a:rPr lang="en-US" sz="3900" b="1" i="0" u="none" strike="noStrike" cap="none" dirty="0" err="1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S.Kom</a:t>
            </a:r>
            <a:r>
              <a:rPr lang="en-US" sz="3900" b="1" i="0" u="none" strike="noStrike" cap="none" dirty="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3296350" y="2131667"/>
            <a:ext cx="77391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Developer Portfolio &amp; Project Review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2171700" y="3819695"/>
            <a:ext cx="36705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Pendidikan &amp; Pelatihan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857375" y="4139676"/>
            <a:ext cx="3810000" cy="2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S1 Teknik Informatika (Informatics)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Universitas Surabaya (UBAYA) — Lulus 2015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857375" y="4615926"/>
            <a:ext cx="3810000" cy="2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diBimbing Backend Development Bootcamp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Batch 6 — Desember 2025 s.d Juli 2026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810375" y="3819695"/>
            <a:ext cx="37005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D948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Kontak Info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6524625" y="4139676"/>
            <a:ext cx="3810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192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Probolinggo, Indonesia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6524625" y="4396851"/>
            <a:ext cx="3810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reesky.it@gmail.com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6524625" y="4654026"/>
            <a:ext cx="38100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+62 822 3243 3695</a:t>
            </a:r>
            <a:endParaRPr/>
          </a:p>
        </p:txBody>
      </p:sp>
      <p:pic>
        <p:nvPicPr>
          <p:cNvPr id="97" name="Google Shape;9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57375" y="3836810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24625" y="3836810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24625" y="4177776"/>
            <a:ext cx="857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443495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24625" y="4692126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3" title="Screenshot 2026-02-13 205920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08900" y="797510"/>
            <a:ext cx="2781300" cy="256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5324475" cy="1396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6725" y="6115050"/>
            <a:ext cx="138112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819150" y="1318170"/>
            <a:ext cx="5090636" cy="205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Ringkasan Karir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819150" y="1638151"/>
            <a:ext cx="4848225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Backend Developer dengan transisi karir yang didukung oleh </a:t>
            </a:r>
            <a:r>
              <a:rPr lang="en-US" sz="1050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9+ tahun pengalaman</a:t>
            </a:r>
            <a:r>
              <a:rPr lang="en-US" sz="1050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 bidang implementasi sistem IT dan penyiapan teknologi operasional rumah sakit.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581025" y="2666851"/>
            <a:ext cx="5590698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D948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Keahlian Lapangan &amp; Infrastruktur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581025" y="3930699"/>
            <a:ext cx="5590698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Fokus Stack Backend Baru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581025" y="4208710"/>
            <a:ext cx="5324475" cy="38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Java, Spring Boot, REST API, Spring Security (JWT), Desain Database Relasional, Automated Testing, Containerization (Docker).</a:t>
            </a:r>
            <a:endParaRPr/>
          </a:p>
        </p:txBody>
      </p:sp>
      <p:pic>
        <p:nvPicPr>
          <p:cNvPr id="119" name="Google Shape;119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96025" y="1089570"/>
            <a:ext cx="5305425" cy="3600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346745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1025" y="2685901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4"/>
          <p:cNvSpPr txBox="1"/>
          <p:nvPr/>
        </p:nvSpPr>
        <p:spPr>
          <a:xfrm>
            <a:off x="847725" y="2944862"/>
            <a:ext cx="5057775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Setup server lokal / VPS &amp; Perencanaan Disaster Recovery Backup.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847725" y="3273474"/>
            <a:ext cx="5057775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Integrasi perangkat IoT medis &amp; Koordinasi sistem terintegrasi vendor.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847725" y="3602087"/>
            <a:ext cx="5057775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Kesiapan operasional sistem medis kritis 24/7.</a:t>
            </a:r>
            <a:endParaRPr/>
          </a:p>
        </p:txBody>
      </p:sp>
      <p:pic>
        <p:nvPicPr>
          <p:cNvPr id="125" name="Google Shape;125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1025" y="3949749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KUALIFIKASI PROFESIONAL</a:t>
            </a:r>
            <a:endParaRPr/>
          </a:p>
        </p:txBody>
      </p:sp>
      <p:sp>
        <p:nvSpPr>
          <p:cNvPr id="127" name="Google Shape;127;p14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2963912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3292524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3621137"/>
            <a:ext cx="171450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8672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2485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5"/>
          <p:cNvSpPr txBox="1"/>
          <p:nvPr/>
        </p:nvSpPr>
        <p:spPr>
          <a:xfrm>
            <a:off x="819150" y="1822995"/>
            <a:ext cx="3200400" cy="205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CareLink — Hospital Alert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819150" y="2142976"/>
            <a:ext cx="30480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Full-stack Nurse Call dengan eskalasi alarm otomatis (5 menit) dan timeline audit logs.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819150" y="2628751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 Java 17, Spring Boot 3.2.5, PostgreSQL, Redis Caching, RabbitMQ, JWT, React 18</a:t>
            </a:r>
            <a:endParaRPr/>
          </a:p>
        </p:txBody>
      </p:sp>
      <p:pic>
        <p:nvPicPr>
          <p:cNvPr id="149" name="Google Shape;149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1915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4572000" y="1822995"/>
            <a:ext cx="3200400" cy="205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File Storage &amp; Management API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4572000" y="2142976"/>
            <a:ext cx="30480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API penyimpanan file terenkripsi UUID dengan CI/CD otomatis via GitHub Actions ke VPS.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4572000" y="2628751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 Java 21, Spring Boot, Spring Security, MySQL, Docker, GitHub Actions CI/CD</a:t>
            </a:r>
            <a:endParaRPr/>
          </a:p>
        </p:txBody>
      </p:sp>
      <p:pic>
        <p:nvPicPr>
          <p:cNvPr id="153" name="Google Shape;153;p15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5"/>
          <p:cNvSpPr txBox="1"/>
          <p:nvPr/>
        </p:nvSpPr>
        <p:spPr>
          <a:xfrm>
            <a:off x="8324850" y="1822995"/>
            <a:ext cx="3200400" cy="205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Wallet Service API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8324850" y="2142976"/>
            <a:ext cx="3048000" cy="557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Backend dompet digital dengan transaksi aman, proteksi klik ganda (Idempotency), dan ekspor Excel.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8324850" y="2814488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 Java 21, Spring Boot, Spring Security, PostgreSQL, JPA, Apache POI</a:t>
            </a:r>
            <a:endParaRPr/>
          </a:p>
        </p:txBody>
      </p:sp>
      <p:pic>
        <p:nvPicPr>
          <p:cNvPr id="157" name="Google Shape;157;p15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32485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5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19150" y="1375320"/>
            <a:ext cx="3333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5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4572000" y="1375320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8324850" y="137532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5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PORTOFOLIO PROYEK DIBIMBING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24100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67175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096000" y="9525"/>
            <a:ext cx="6086475" cy="60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6"/>
          <p:cNvSpPr txBox="1"/>
          <p:nvPr/>
        </p:nvSpPr>
        <p:spPr>
          <a:xfrm>
            <a:off x="723900" y="581025"/>
            <a:ext cx="5240655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PROYEK UTAMA: MEDIBOOK API</a:t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581025" y="581025"/>
            <a:ext cx="47625" cy="73134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581025" y="1455241"/>
            <a:ext cx="5133975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API terintegrasi untuk manajemen pelayanan dan pendaftaran (booking) pasien rawat jalan secara mandiri di rumah sakit. Memproses pendaftaran poliklinik spesialis maupun penunjang non-dokter secara langsung (cek lab &amp; rontgen radiologi).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581025" y="2398216"/>
            <a:ext cx="539067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D948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Target Pengguna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581025" y="3122116"/>
            <a:ext cx="539067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11D4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Masalah Utama Yang Diselesaikan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581025" y="3350716"/>
            <a:ext cx="51339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Mengurangi antrean fisik pendaftaran rumah sakit, mencegah overbooking kuota dokter, dan memitigasi manipulasi/kebocoran berkas resep kertas fisik.</a:t>
            </a:r>
            <a:endParaRPr/>
          </a:p>
        </p:txBody>
      </p:sp>
      <p:pic>
        <p:nvPicPr>
          <p:cNvPr id="182" name="Google Shape;18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26161" y="2417266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1025" y="314116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83373" y="2760166"/>
            <a:ext cx="133350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840736" y="2760166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574286" y="2760166"/>
            <a:ext cx="142875" cy="11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7"/>
          <p:cNvSpPr txBox="1"/>
          <p:nvPr/>
        </p:nvSpPr>
        <p:spPr>
          <a:xfrm>
            <a:off x="1104900" y="1346745"/>
            <a:ext cx="479059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91B1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Masalah Riil Rumah Sakit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6810375" y="1346745"/>
            <a:ext cx="479059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65F4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Solusi Terintegrasi MediBook</a:t>
            </a:r>
            <a:endParaRPr/>
          </a:p>
        </p:txBody>
      </p:sp>
      <p:pic>
        <p:nvPicPr>
          <p:cNvPr id="200" name="Google Shape;20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136579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7"/>
          <p:cNvSpPr txBox="1"/>
          <p:nvPr/>
        </p:nvSpPr>
        <p:spPr>
          <a:xfrm>
            <a:off x="1085850" y="1765845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Antrean Fisik Berjam-jam: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 Pasien wajib datang dini hari hanya untuk sekadar mengambil nomor antrean loket pendaftaran rawat jalan.</a:t>
            </a:r>
            <a:endParaRPr/>
          </a:p>
        </p:txBody>
      </p:sp>
      <p:sp>
        <p:nvSpPr>
          <p:cNvPr id="202" name="Google Shape;202;p17"/>
          <p:cNvSpPr txBox="1"/>
          <p:nvPr/>
        </p:nvSpPr>
        <p:spPr>
          <a:xfrm>
            <a:off x="1085850" y="2561183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Kondisi Overbooking Kuota: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 Kuota dokter terlampaui dikarenakan sistem menerima banyak request pemesanan bersamaan di detik yang sama.</a:t>
            </a:r>
            <a:endParaRPr/>
          </a:p>
        </p:txBody>
      </p:sp>
      <p:sp>
        <p:nvSpPr>
          <p:cNvPr id="203" name="Google Shape;203;p17"/>
          <p:cNvSpPr txBox="1"/>
          <p:nvPr/>
        </p:nvSpPr>
        <p:spPr>
          <a:xfrm>
            <a:off x="1085850" y="3356520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Penyalahgunaan API (Spam Booking):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 Pasien/bot menembak endpoint booking berulang kali untuk mengamankan slot dokter langka secara curang.</a:t>
            </a:r>
            <a:endParaRPr/>
          </a:p>
        </p:txBody>
      </p:sp>
      <p:pic>
        <p:nvPicPr>
          <p:cNvPr id="204" name="Google Shape;204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24625" y="136579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7"/>
          <p:cNvSpPr txBox="1"/>
          <p:nvPr/>
        </p:nvSpPr>
        <p:spPr>
          <a:xfrm>
            <a:off x="6791325" y="1765845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Sistem Booking Online Mandiri: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 Pasien dapat mendaftar dari rumah dan otomatis mendapatkan nomor antrean kunjungan secara real-time.</a:t>
            </a:r>
            <a:endParaRPr/>
          </a:p>
        </p:txBody>
      </p:sp>
      <p:sp>
        <p:nvSpPr>
          <p:cNvPr id="206" name="Google Shape;206;p17"/>
          <p:cNvSpPr txBox="1"/>
          <p:nvPr/>
        </p:nvSpPr>
        <p:spPr>
          <a:xfrm>
            <a:off x="6791325" y="2561183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Database Pessimistic Locking: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 Mengunci baris ketersediaan kuota dokter (serialized transaksi) agar sisa kuota aman dari race condition.</a:t>
            </a:r>
            <a:endParaRPr/>
          </a:p>
        </p:txBody>
      </p:sp>
      <p:sp>
        <p:nvSpPr>
          <p:cNvPr id="207" name="Google Shape;207;p17"/>
          <p:cNvSpPr txBox="1"/>
          <p:nvPr/>
        </p:nvSpPr>
        <p:spPr>
          <a:xfrm>
            <a:off x="6791325" y="3356520"/>
            <a:ext cx="45815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Redis Idempotency &amp; Unique Index: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 Proteksi duplikasi input pendaftaran pasien di hari yang sama menggunakan key Redis dan unique database constraints.</a:t>
            </a:r>
            <a:endParaRPr/>
          </a:p>
        </p:txBody>
      </p:sp>
      <p:sp>
        <p:nvSpPr>
          <p:cNvPr id="208" name="Google Shape;208;p17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MASALAH VS SOLUSI TEKNOLOGI</a:t>
            </a:r>
            <a:endParaRPr/>
          </a:p>
        </p:txBody>
      </p:sp>
      <p:sp>
        <p:nvSpPr>
          <p:cNvPr id="209" name="Google Shape;209;p17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784895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2580233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3375570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1784895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2580233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3375570"/>
            <a:ext cx="171450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86137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91250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96362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525" y="5570934"/>
            <a:ext cx="12172950" cy="127754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8"/>
          <p:cNvSpPr txBox="1"/>
          <p:nvPr/>
        </p:nvSpPr>
        <p:spPr>
          <a:xfrm>
            <a:off x="819150" y="2013495"/>
            <a:ext cx="2245280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Stateless Security</a:t>
            </a:r>
            <a:endParaRPr/>
          </a:p>
        </p:txBody>
      </p:sp>
      <p:sp>
        <p:nvSpPr>
          <p:cNvPr id="230" name="Google Shape;230;p18"/>
          <p:cNvSpPr txBox="1"/>
          <p:nvPr/>
        </p:nvSpPr>
        <p:spPr>
          <a:xfrm>
            <a:off x="819150" y="2310556"/>
            <a:ext cx="2138362" cy="1039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REST API yang aman menggunakan token JWT stateless dilengkapi dengan pembagian hak akses terperinci Role-Based Access Control (RBAC) bagi Pasien, Dokter, dan Admin.</a:t>
            </a:r>
            <a:endParaRPr/>
          </a:p>
        </p:txBody>
      </p:sp>
      <p:sp>
        <p:nvSpPr>
          <p:cNvPr id="231" name="Google Shape;231;p18"/>
          <p:cNvSpPr txBox="1"/>
          <p:nvPr/>
        </p:nvSpPr>
        <p:spPr>
          <a:xfrm>
            <a:off x="3624262" y="2013495"/>
            <a:ext cx="2245280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Safe Concurrency</a:t>
            </a:r>
            <a:endParaRPr/>
          </a:p>
        </p:txBody>
      </p:sp>
      <p:sp>
        <p:nvSpPr>
          <p:cNvPr id="232" name="Google Shape;232;p18"/>
          <p:cNvSpPr txBox="1"/>
          <p:nvPr/>
        </p:nvSpPr>
        <p:spPr>
          <a:xfrm>
            <a:off x="3624262" y="2310556"/>
            <a:ext cx="2138362" cy="1039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Pencegahan manipulasi kuota dokter dengan mengimplementasikan database locking tingkat row (Transactional Locking) saat proses validasi ketersediaan jadwal.</a:t>
            </a:r>
            <a:endParaRPr/>
          </a:p>
        </p:txBody>
      </p:sp>
      <p:sp>
        <p:nvSpPr>
          <p:cNvPr id="233" name="Google Shape;233;p18"/>
          <p:cNvSpPr txBox="1"/>
          <p:nvPr/>
        </p:nvSpPr>
        <p:spPr>
          <a:xfrm>
            <a:off x="6429375" y="2013495"/>
            <a:ext cx="2245280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Task Scheduler</a:t>
            </a:r>
            <a:endParaRPr/>
          </a:p>
        </p:txBody>
      </p:sp>
      <p:sp>
        <p:nvSpPr>
          <p:cNvPr id="234" name="Google Shape;234;p18"/>
          <p:cNvSpPr txBox="1"/>
          <p:nvPr/>
        </p:nvSpPr>
        <p:spPr>
          <a:xfrm>
            <a:off x="6429375" y="2310556"/>
            <a:ext cx="2138362" cy="1039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Pembersihan otomatis oleh Scheduler Backend terhadap pendaftaran kadaluwarsa (unconfirmed bookings) setelah 15 menit jika pembayaran tidak tervalidasi.</a:t>
            </a:r>
            <a:endParaRPr/>
          </a:p>
        </p:txBody>
      </p:sp>
      <p:sp>
        <p:nvSpPr>
          <p:cNvPr id="235" name="Google Shape;235;p18"/>
          <p:cNvSpPr txBox="1"/>
          <p:nvPr/>
        </p:nvSpPr>
        <p:spPr>
          <a:xfrm>
            <a:off x="9234487" y="2013495"/>
            <a:ext cx="2245280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Medical Compliance</a:t>
            </a:r>
            <a:endParaRPr/>
          </a:p>
        </p:txBody>
      </p:sp>
      <p:sp>
        <p:nvSpPr>
          <p:cNvPr id="236" name="Google Shape;236;p18"/>
          <p:cNvSpPr txBox="1"/>
          <p:nvPr/>
        </p:nvSpPr>
        <p:spPr>
          <a:xfrm>
            <a:off x="9234487" y="2310556"/>
            <a:ext cx="2138362" cy="866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Pembuatan Audit Logs histori perubahan status transaksi secara real-time dan penerapan kebijakan Soft Delete demi kepatuhan aturan hukum rekam medis rumah sakit.</a:t>
            </a:r>
            <a:endParaRPr/>
          </a:p>
        </p:txBody>
      </p:sp>
      <p:pic>
        <p:nvPicPr>
          <p:cNvPr id="237" name="Google Shape;237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5658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624262" y="1565820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8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29375" y="15658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8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9234487" y="1565820"/>
            <a:ext cx="2000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8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FITUR UTAMA MEDIBOOK API</a:t>
            </a:r>
            <a:endParaRPr/>
          </a:p>
        </p:txBody>
      </p:sp>
      <p:sp>
        <p:nvSpPr>
          <p:cNvPr id="242" name="Google Shape;242;p18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344364"/>
            <a:ext cx="5324475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725489"/>
            <a:ext cx="5324475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33525" y="3923258"/>
            <a:ext cx="2090737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719512" y="3923258"/>
            <a:ext cx="2090737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1025" y="1080045"/>
            <a:ext cx="5229225" cy="442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71525" y="1637258"/>
            <a:ext cx="5038725" cy="442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62025" y="2194470"/>
            <a:ext cx="4848225" cy="461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19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152525" y="2770733"/>
            <a:ext cx="4657725" cy="461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19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343025" y="3346995"/>
            <a:ext cx="4467225" cy="461962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9"/>
          <p:cNvSpPr txBox="1"/>
          <p:nvPr/>
        </p:nvSpPr>
        <p:spPr>
          <a:xfrm>
            <a:off x="6486525" y="1496764"/>
            <a:ext cx="517064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192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D948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Controller &amp; Service Layers</a:t>
            </a:r>
            <a:endParaRPr/>
          </a:p>
        </p:txBody>
      </p:sp>
      <p:sp>
        <p:nvSpPr>
          <p:cNvPr id="262" name="Google Shape;262;p19"/>
          <p:cNvSpPr txBox="1"/>
          <p:nvPr/>
        </p:nvSpPr>
        <p:spPr>
          <a:xfrm>
            <a:off x="6486525" y="1715839"/>
            <a:ext cx="4924425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Controller: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Menerima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HTTP, mapping HTTP Body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ke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Data Transfer Object (DTO) dan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anotasi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input (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seperti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email, phone format).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Service: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Penyelenggara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logika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inti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pemotongan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sisa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kuota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kalkulasi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jadwal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pemanggilan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enkripsi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file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resep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dan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eksekusi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background scheduler.</a:t>
            </a:r>
            <a:endParaRPr dirty="0"/>
          </a:p>
        </p:txBody>
      </p:sp>
      <p:sp>
        <p:nvSpPr>
          <p:cNvPr id="263" name="Google Shape;263;p19"/>
          <p:cNvSpPr txBox="1"/>
          <p:nvPr/>
        </p:nvSpPr>
        <p:spPr>
          <a:xfrm>
            <a:off x="6486525" y="2877889"/>
            <a:ext cx="517064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EA5E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Repository &amp; Caching Layers</a:t>
            </a:r>
            <a:endParaRPr/>
          </a:p>
        </p:txBody>
      </p:sp>
      <p:sp>
        <p:nvSpPr>
          <p:cNvPr id="264" name="Google Shape;264;p19"/>
          <p:cNvSpPr txBox="1"/>
          <p:nvPr/>
        </p:nvSpPr>
        <p:spPr>
          <a:xfrm>
            <a:off x="6486525" y="3096964"/>
            <a:ext cx="4924425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Repository: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Menangani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query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kompleks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ke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database MySQL,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termasuk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query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khusus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yang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diimbuhi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JPA pessimistic write locks.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Caching (Redis):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Mempercepat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loading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pencarian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nama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dokter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atau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penunjang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medis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rumah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sakit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serta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mencatat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token anti-spam (idempotency token).</a:t>
            </a:r>
            <a:endParaRPr dirty="0"/>
          </a:p>
        </p:txBody>
      </p:sp>
      <p:pic>
        <p:nvPicPr>
          <p:cNvPr id="265" name="Google Shape;265;p19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591175" y="1239589"/>
            <a:ext cx="10477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19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5600700" y="1796801"/>
            <a:ext cx="95250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9"/>
          <p:cNvSpPr txBox="1"/>
          <p:nvPr/>
        </p:nvSpPr>
        <p:spPr>
          <a:xfrm>
            <a:off x="1085849" y="2318295"/>
            <a:ext cx="4459129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Controllers (Mapping DTO &amp; Input Validation)</a:t>
            </a:r>
            <a:endParaRPr dirty="0"/>
          </a:p>
        </p:txBody>
      </p:sp>
      <p:pic>
        <p:nvPicPr>
          <p:cNvPr id="268" name="Google Shape;268;p19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591175" y="2363539"/>
            <a:ext cx="95250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9"/>
          <p:cNvSpPr txBox="1"/>
          <p:nvPr/>
        </p:nvSpPr>
        <p:spPr>
          <a:xfrm>
            <a:off x="1276350" y="2894558"/>
            <a:ext cx="3162300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Services (Business Logic, Scheduler &amp; Locks)</a:t>
            </a:r>
            <a:endParaRPr/>
          </a:p>
        </p:txBody>
      </p:sp>
      <p:pic>
        <p:nvPicPr>
          <p:cNvPr id="270" name="Google Shape;270;p19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591175" y="2939801"/>
            <a:ext cx="95250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9"/>
          <p:cNvSpPr txBox="1"/>
          <p:nvPr/>
        </p:nvSpPr>
        <p:spPr>
          <a:xfrm>
            <a:off x="1466850" y="3470820"/>
            <a:ext cx="2133600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Repositories (Spring Data JPA)</a:t>
            </a:r>
            <a:endParaRPr/>
          </a:p>
        </p:txBody>
      </p:sp>
      <p:pic>
        <p:nvPicPr>
          <p:cNvPr id="272" name="Google Shape;272;p19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5562600" y="3516064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19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486525" y="1515814"/>
            <a:ext cx="1619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9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486525" y="2896939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9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ARSITEKTUR SISTEM (HIGH-LEVEL)</a:t>
            </a:r>
            <a:endParaRPr/>
          </a:p>
        </p:txBody>
      </p:sp>
      <p:sp>
        <p:nvSpPr>
          <p:cNvPr id="276" name="Google Shape;276;p19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753" y="716191"/>
            <a:ext cx="5781674" cy="974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59879" y="726744"/>
            <a:ext cx="5329515" cy="3117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0"/>
          <p:cNvSpPr txBox="1"/>
          <p:nvPr/>
        </p:nvSpPr>
        <p:spPr>
          <a:xfrm>
            <a:off x="298438" y="827663"/>
            <a:ext cx="4848225" cy="86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Arsitektur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data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relasional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sistem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didukung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oleh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delapan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entitas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12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utama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/>
          </a:p>
        </p:txBody>
      </p:sp>
      <p:sp>
        <p:nvSpPr>
          <p:cNvPr id="293" name="Google Shape;293;p20"/>
          <p:cNvSpPr txBox="1"/>
          <p:nvPr/>
        </p:nvSpPr>
        <p:spPr>
          <a:xfrm>
            <a:off x="6730808" y="998516"/>
            <a:ext cx="4376738" cy="3022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95" name="Google Shape;29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98438" y="1043835"/>
            <a:ext cx="471487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46125" y="1043835"/>
            <a:ext cx="685800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08125" y="1043835"/>
            <a:ext cx="614362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298688" y="1043835"/>
            <a:ext cx="1328737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703625" y="1043835"/>
            <a:ext cx="1257300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98438" y="1372448"/>
            <a:ext cx="685800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60438" y="1372448"/>
            <a:ext cx="1114425" cy="252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0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251063" y="1372448"/>
            <a:ext cx="1328737" cy="25241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0"/>
          <p:cNvSpPr txBox="1"/>
          <p:nvPr/>
        </p:nvSpPr>
        <p:spPr>
          <a:xfrm>
            <a:off x="676275" y="158692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DESAIN RELASI DATABASE (ERD)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09" name="Google Shape;309;p20"/>
          <p:cNvSpPr/>
          <p:nvPr/>
        </p:nvSpPr>
        <p:spPr>
          <a:xfrm>
            <a:off x="533400" y="197456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9F8F5079-D18A-A82C-6446-EFCC7E6E2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1944" y="827663"/>
            <a:ext cx="5102679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users 1 -&gt; 1 patients (One-to-One)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000" dirty="0">
                <a:solidFill>
                  <a:schemeClr val="tx1"/>
                </a:solidFill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Autentikasi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akun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pasien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terpisah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dari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fisik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users 1 -&gt; 1 doctors (One-to-One)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Hak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akses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dokter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dikunci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pada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resmi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doctors 1 -&gt; N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doctor_schedules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Seorang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dokter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bisa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memiliki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banyak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slot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jadwal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praktik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hospital_services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1 -&gt; N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doctor_schedules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Satu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jenis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layanan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poliklinik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/lab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digunakan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berbagai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jadwal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patients 1 -&gt; N bookings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Pasien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dapat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membuat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banyak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reservasi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kunjungan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doctor_schedules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1 -&gt; N bookings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Banyak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transaksi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booking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mengacu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pada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slot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jadwal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yang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sama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hospital_services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doctors 1 -&gt; N bookings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Mengakomodasi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fleksibilitas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layanan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langsung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(Walk-In / Non-Jadwal).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bookings 1 -&gt; N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booking_events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Rekam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jejak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perubahan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status (Audit Trail)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dari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sistem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maupun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aktor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bookings 1 -&gt; N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medical_documents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(One-to-Many)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Manajemen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berkas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digital (e-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resep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hasil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lab,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rujukan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per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kunjungan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C9D1D75-11DD-C0CA-E593-5179BBD107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90" y="1868518"/>
            <a:ext cx="1260000" cy="163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00C471E-079B-EC2F-B135-E000777F63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52" y="3521720"/>
            <a:ext cx="1260000" cy="2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A55AA6B-7578-231E-1929-A595E528D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9096" y="1868518"/>
            <a:ext cx="1260000" cy="183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3078C7D-2642-9221-005F-232CE6162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881" y="3723793"/>
            <a:ext cx="1260000" cy="183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79041CC5-9CFA-F2BF-140B-4C2003857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5307" y="1908179"/>
            <a:ext cx="1260000" cy="146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1E50543-D2B2-9646-EFC1-8B21F6B38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701" y="1866867"/>
            <a:ext cx="1260000" cy="25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766AED23-2E4F-C17E-9D14-52BD40A4D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6927" y="1866867"/>
            <a:ext cx="1260000" cy="170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DC18BA93-F4DE-4A84-0D7C-6F2C298CF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5307" y="3440592"/>
            <a:ext cx="1260000" cy="13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306B2A90-FD71-98E8-DB68-DEC842EC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20;p18" descr="image.png">
            <a:extLst>
              <a:ext uri="{FF2B5EF4-FFF2-40B4-BE49-F238E27FC236}">
                <a16:creationId xmlns:a16="http://schemas.microsoft.com/office/drawing/2014/main" id="{122A17AD-68B3-EAC9-6CB1-9D0263A8B9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0" descr="image.png">
            <a:extLst>
              <a:ext uri="{FF2B5EF4-FFF2-40B4-BE49-F238E27FC236}">
                <a16:creationId xmlns:a16="http://schemas.microsoft.com/office/drawing/2014/main" id="{C302A310-722B-986C-6F74-8D3FB3DA15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0">
            <a:extLst>
              <a:ext uri="{FF2B5EF4-FFF2-40B4-BE49-F238E27FC236}">
                <a16:creationId xmlns:a16="http://schemas.microsoft.com/office/drawing/2014/main" id="{A70F668A-0AB2-1E58-4BE1-6C252E9D0B84}"/>
              </a:ext>
            </a:extLst>
          </p:cNvPr>
          <p:cNvSpPr txBox="1"/>
          <p:nvPr/>
        </p:nvSpPr>
        <p:spPr>
          <a:xfrm>
            <a:off x="676275" y="158692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DESAIN RELASI DATABASE (ERD)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09" name="Google Shape;309;p20">
            <a:extLst>
              <a:ext uri="{FF2B5EF4-FFF2-40B4-BE49-F238E27FC236}">
                <a16:creationId xmlns:a16="http://schemas.microsoft.com/office/drawing/2014/main" id="{D3B020A8-2FC4-6AE6-AEB5-024CB3AB6D4C}"/>
              </a:ext>
            </a:extLst>
          </p:cNvPr>
          <p:cNvSpPr/>
          <p:nvPr/>
        </p:nvSpPr>
        <p:spPr>
          <a:xfrm>
            <a:off x="533400" y="197456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2A9C7D-A098-257E-6708-C72BA7404F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39" y="695095"/>
            <a:ext cx="11492863" cy="512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2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090642"/>
            <a:ext cx="12172950" cy="757832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1"/>
          <p:cNvSpPr/>
          <p:nvPr/>
        </p:nvSpPr>
        <p:spPr>
          <a:xfrm>
            <a:off x="581025" y="1080045"/>
            <a:ext cx="11029950" cy="299561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0" name="Google Shape;320;p21"/>
          <p:cNvGraphicFramePr/>
          <p:nvPr>
            <p:extLst>
              <p:ext uri="{D42A27DB-BD31-4B8C-83A1-F6EECF244321}">
                <p14:modId xmlns:p14="http://schemas.microsoft.com/office/powerpoint/2010/main" val="1652514190"/>
              </p:ext>
            </p:extLst>
          </p:nvPr>
        </p:nvGraphicFramePr>
        <p:xfrm>
          <a:off x="581025" y="1080045"/>
          <a:ext cx="11020425" cy="2995650"/>
        </p:xfrm>
        <a:graphic>
          <a:graphicData uri="http://schemas.openxmlformats.org/drawingml/2006/table">
            <a:tbl>
              <a:tblPr firstRow="1" bandRow="1">
                <a:noFill/>
                <a:tableStyleId>{E7EEF7A6-C51F-4765-95DC-4421B0C34886}</a:tableStyleId>
              </a:tblPr>
              <a:tblGrid>
                <a:gridCol w="2215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09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Kategori Modul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HTTP Method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URI Endpoint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Deskripsi Output / Fungsi Keamanan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strike="noStrike" cap="none">
                          <a:solidFill>
                            <a:srgbClr val="0D9488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Authentication &amp; Authorization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 strike="noStrike" cap="none">
                          <a:solidFill>
                            <a:srgbClr val="16A34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strike="noStrike" cap="non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/api/auth/register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Melakukan pendaftaran akun kredensial pasien baru di rumah sakit.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 strike="noStrike" cap="none" dirty="0">
                          <a:solidFill>
                            <a:srgbClr val="16A34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</a:t>
                      </a:r>
                      <a:r>
                        <a:rPr lang="en-US" sz="1012" b="0" i="0" u="none" strike="noStrike" cap="none" dirty="0" err="1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/auth/login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Validasi</a:t>
                      </a: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login, me-return Stateless JWT token </a:t>
                      </a:r>
                      <a:r>
                        <a:rPr lang="en-US" sz="1012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beserta</a:t>
                      </a: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otorisasi</a:t>
                      </a: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Role </a:t>
                      </a:r>
                      <a:r>
                        <a:rPr lang="en-US" sz="1012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pengguna</a:t>
                      </a:r>
                      <a:r>
                        <a:rPr lang="en-US" sz="1012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0EA5E9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Katalog &amp; CRUD Master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 dirty="0">
                          <a:solidFill>
                            <a:srgbClr val="2563E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/api/doctors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Mengambil data dokter aktif terpaginasi (filter spesialiasi dokter tersedia).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 dirty="0">
                          <a:solidFill>
                            <a:srgbClr val="2563E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/api/services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Menampilkan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katalog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paket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pemeriksaan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RS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langsung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terpaginasi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(Lab,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Radiologi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D97706"/>
                          </a:solidFill>
                          <a:latin typeface="Inter SemiBold"/>
                          <a:ea typeface="Inter SemiBold"/>
                          <a:cs typeface="Arial" panose="020B0604020202020204" pitchFamily="34" charset="0"/>
                          <a:sym typeface="Inter SemiBold"/>
                        </a:rPr>
                        <a:t>Katalog Transaksi Booking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>
                          <a:solidFill>
                            <a:srgbClr val="16A34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/api/bookings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Membuat nomor pendaftaran baru, unggah berkas rujukan (Mengeset status PENDING).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1" i="0" u="none" dirty="0">
                          <a:solidFill>
                            <a:srgbClr val="16A34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/api/bookings/{id}/pay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Simulasi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sandbox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pembayaran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,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memicu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transisi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otomatis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status </a:t>
                      </a:r>
                      <a:r>
                        <a:rPr lang="en-US" sz="1012" b="0" i="0" u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menjadi</a:t>
                      </a:r>
                      <a:r>
                        <a:rPr lang="en-US" sz="1012" b="0" i="0" u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Arial" panose="020B0604020202020204" pitchFamily="34" charset="0"/>
                          <a:sym typeface="Inter"/>
                        </a:rPr>
                        <a:t> CONFIRMED.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37" name="Google Shape;337;p21"/>
          <p:cNvSpPr/>
          <p:nvPr/>
        </p:nvSpPr>
        <p:spPr>
          <a:xfrm>
            <a:off x="5855791" y="3275558"/>
            <a:ext cx="57504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1"/>
          <p:cNvSpPr/>
          <p:nvPr/>
        </p:nvSpPr>
        <p:spPr>
          <a:xfrm>
            <a:off x="2967037" y="3668464"/>
            <a:ext cx="1143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/>
          <p:nvPr/>
        </p:nvSpPr>
        <p:spPr>
          <a:xfrm>
            <a:off x="4110037" y="3668464"/>
            <a:ext cx="17457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5855791" y="3668464"/>
            <a:ext cx="57504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SPESIFIKASI API ENDPOINTS (CP1)</a:t>
            </a:r>
            <a:endParaRPr dirty="0"/>
          </a:p>
        </p:txBody>
      </p:sp>
      <p:sp>
        <p:nvSpPr>
          <p:cNvPr id="343" name="Google Shape;343;p21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89695"/>
            <a:ext cx="5324475" cy="1509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270545"/>
            <a:ext cx="16002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74540" y="1270545"/>
            <a:ext cx="21336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01455" y="1270545"/>
            <a:ext cx="16668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61645" y="1270545"/>
            <a:ext cx="15906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45635" y="1270545"/>
            <a:ext cx="1781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20126" y="1270545"/>
            <a:ext cx="17907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2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525" y="5744170"/>
            <a:ext cx="12172950" cy="1104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22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8175" y="1384845"/>
            <a:ext cx="9525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22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31690" y="1384845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22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558605" y="1384845"/>
            <a:ext cx="15240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2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318795" y="1384845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2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8002785" y="1384845"/>
            <a:ext cx="15240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22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9877276" y="1384845"/>
            <a:ext cx="14287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2"/>
          <p:cNvSpPr txBox="1"/>
          <p:nvPr/>
        </p:nvSpPr>
        <p:spPr>
          <a:xfrm>
            <a:off x="809625" y="2242095"/>
            <a:ext cx="514064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91C1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Tantangan Kuota &amp; Spam Klik</a:t>
            </a:r>
            <a:endParaRPr/>
          </a:p>
        </p:txBody>
      </p:sp>
      <p:sp>
        <p:nvSpPr>
          <p:cNvPr id="368" name="Google Shape;368;p22"/>
          <p:cNvSpPr txBox="1"/>
          <p:nvPr/>
        </p:nvSpPr>
        <p:spPr>
          <a:xfrm>
            <a:off x="781050" y="2489745"/>
            <a:ext cx="4895850" cy="10272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Mencegah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tabrakan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pemesanan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kuota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bersamaan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(race condition) dan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serangan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spam click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ganda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pada server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rawat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jalan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rumah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sakit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1" dirty="0">
                <a:solidFill>
                  <a:srgbClr val="0D9488"/>
                </a:solidFill>
                <a:latin typeface="Inter"/>
                <a:ea typeface="Inter"/>
                <a:cs typeface="Calibri"/>
                <a:sym typeface="Inter"/>
              </a:rPr>
              <a:t>A</a:t>
            </a:r>
            <a:r>
              <a:rPr lang="en-US" sz="975" b="1" dirty="0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nalisa S</a:t>
            </a:r>
            <a:r>
              <a:rPr lang="en-US" sz="975" b="1" i="0" u="none" strike="noStrike" cap="none" dirty="0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olusi Backend: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Menyematkan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anotasi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query @Lock(LockModeType.PESSIMISTIC_WRITE) MySQL di Service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memadukannya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dengan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cache key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unik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Redis Idempotency.</a:t>
            </a:r>
            <a:endParaRPr dirty="0"/>
          </a:p>
        </p:txBody>
      </p:sp>
      <p:pic>
        <p:nvPicPr>
          <p:cNvPr id="371" name="Google Shape;371;p22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09625" y="2261145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2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PROSES &amp; TANTANGAN DESAIN</a:t>
            </a:r>
            <a:endParaRPr/>
          </a:p>
        </p:txBody>
      </p:sp>
      <p:sp>
        <p:nvSpPr>
          <p:cNvPr id="374" name="Google Shape;374;p22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1124</Words>
  <Application>Microsoft Office PowerPoint</Application>
  <PresentationFormat>Widescreen</PresentationFormat>
  <Paragraphs>110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Plus Jakarta Sans</vt:lpstr>
      <vt:lpstr>Inter SemiBold</vt:lpstr>
      <vt:lpstr>Inter Medium</vt:lpstr>
      <vt:lpstr>Calibri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BackEndYS</dc:creator>
  <cp:lastModifiedBy>Rees Adhadina</cp:lastModifiedBy>
  <cp:revision>5</cp:revision>
  <dcterms:modified xsi:type="dcterms:W3CDTF">2026-05-29T19:32:53Z</dcterms:modified>
</cp:coreProperties>
</file>